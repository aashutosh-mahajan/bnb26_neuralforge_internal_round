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f5146f57-1c56-ecc0-6210-55d36ea424a0}">
          <p14:sldIdLst>
            <p14:sldId id="256"/>
            <p14:sldId id="257"/>
          </p14:sldIdLst>
        </p14:section>
        <p14:section name="Product" id="{7ab407d9-321c-f0a5-1c8f-70564ce45043}">
          <p14:sldIdLst>
            <p14:sldId id="258"/>
            <p14:sldId id="259"/>
          </p14:sldIdLst>
        </p14:section>
        <p14:section name="Proof" id="{742b3e45-762c-245e-2588-374e38cb9683}">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Top-1 accuracy</c:v>
                </c:pt>
              </c:strCache>
            </c:strRef>
          </c:tx>
          <c:spPr>
            <a:solidFill>
              <a:srgbClr val="4A5366"/>
            </a:solidFill>
            <a:effectLst/>
          </c:spPr>
          <c:invertIfNegative val="0"/>
          <c:dLbls>
            <c:numFmt formatCode="0&quot;%&quot;" sourceLinked="0"/>
            <c:txPr>
              <a:bodyPr/>
              <a:lstStyle/>
              <a:p>
                <a:pPr>
                  <a:defRPr b="1" i="0" strike="noStrike" sz="1200" u="none">
                    <a:solidFill>
                      <a:srgbClr val="F3F5F8"/>
                    </a:solidFill>
                    <a:latin typeface="+mn-lt"/>
                  </a:defRPr>
                </a:pPr>
              </a:p>
            </c:txPr>
            <c:showLegendKey val="0"/>
            <c:showVal val="1"/>
            <c:showCatName val="0"/>
            <c:showSerName val="0"/>
            <c:showPercent val="0"/>
            <c:showBubbleSize val="0"/>
            <c:showLeaderLines val="0"/>
          </c:dLbls>
          <c:dPt>
            <c:idx val="0"/>
            <c:invertIfNegative val="0"/>
            <c:bubble3D val="0"/>
            <c:spPr>
              <a:solidFill>
                <a:srgbClr val="4A5366"/>
              </a:solidFill>
              <a:effectLst/>
            </c:spPr>
          </c:dPt>
          <c:dPt>
            <c:idx val="1"/>
            <c:invertIfNegative val="0"/>
            <c:bubble3D val="0"/>
            <c:spPr>
              <a:solidFill>
                <a:srgbClr val="4A5366"/>
              </a:solidFill>
              <a:effectLst/>
            </c:spPr>
          </c:dPt>
          <c:dPt>
            <c:idx val="2"/>
            <c:invertIfNegative val="0"/>
            <c:bubble3D val="0"/>
            <c:spPr>
              <a:solidFill>
                <a:srgbClr val="4A5366"/>
              </a:solidFill>
              <a:effectLst/>
            </c:spPr>
          </c:dPt>
          <c:dPt>
            <c:idx val="3"/>
            <c:invertIfNegative val="0"/>
            <c:bubble3D val="0"/>
            <c:spPr>
              <a:solidFill>
                <a:srgbClr val="FF7A1A"/>
              </a:solidFill>
              <a:effectLst/>
            </c:spPr>
          </c:dPt>
          <c:cat>
            <c:multiLvlStrRef>
              <c:f>Sheet1!$A$2:$A$5</c:f>
              <c:multiLvlStrCache>
                <c:ptCount val="4"/>
                <c:lvl>
                  <c:pt idx="0">
                    <c:v>Random guess</c:v>
                  </c:pt>
                  <c:pt idx="1">
                    <c:v>Simple rules</c:v>
                  </c:pt>
                  <c:pt idx="2">
                    <c:v>GPT-6 Luna judge</c:v>
                  </c:pt>
                  <c:pt idx="3">
                    <c:v>Black Box</c:v>
                  </c:pt>
                </c:lvl>
              </c:multiLvlStrCache>
            </c:multiLvlStrRef>
          </c:cat>
          <c:val>
            <c:numRef>
              <c:f>Sheet1!$B$2:$B$5</c:f>
              <c:numCache>
                <c:formatCode>General</c:formatCode>
                <c:ptCount val="4"/>
                <c:pt idx="0">
                  <c:v>10</c:v>
                </c:pt>
                <c:pt idx="1">
                  <c:v>61</c:v>
                </c:pt>
                <c:pt idx="2">
                  <c:v>86</c:v>
                </c:pt>
                <c:pt idx="3">
                  <c:v>100</c:v>
                </c:pt>
              </c:numCache>
            </c:numRef>
          </c:val>
        </c:ser>
        <c:dLbls>
          <c:numFmt formatCode="0&quot;%&quot;" sourceLinked="0"/>
          <c:txPr>
            <a:bodyPr/>
            <a:lstStyle/>
            <a:p>
              <a:pPr>
                <a:defRPr b="1" i="0" strike="noStrike" sz="1200" u="none">
                  <a:solidFill>
                    <a:srgbClr val="F3F5F8"/>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8B95A7"/>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Your agent told a customer the wrong amount. Which of its 10 steps lied? Black Box records every step like an airplane's flight recorder, finds the root cause, explains it, and proves it by replaying the fix. Three numbers to remember: 27 milliseconds, 100% on our test set, 65 cents of API spend for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in agents cascade. A stale exchange rate fetched at step 3 only becomes visible as a wrong answer at step 10. The natural instinct is to blame the last step, and in our tests that is right 0% of the time. Today teams either read every step by hand or ask another LLM to judge, which costs money per run and gives an opinion,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four steps. Record every step with a save point. Diagnose with three trained models that vote, in 27 milliseconds. Explain in plain English. And the key difference from every other tool: prove it. We restart the run from the blamed step with a fix, re-running only the steps after it. If it passes 3 out of 3 times, the diagnosis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The live path: the agent runs, the recorder saves every step with a save point, three models vote on the root cause, the explainer writes it in plain words, and replay proves the fix. The training path is how the models learned: we injected 12 kinds of real-world faults, an auto-labeler found the true cause of each failure by replaying, and that gave us 5,370 labelled runs. It wraps any LangGraph agent in two lines, exports to standard tracing tools, and runs fully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322 failed runs from a real GPT-6 Luna agent, Black Box finds the exact faulty step on the first guess every time. Random is 10%, hand-written rules 61%, and a GPT-6 Luna judge 86%. It is not memorising: 92% on fault types it never saw, 96% on real GPT runs when trained only on simulated ones. 27 ms per diagnosis, 63% fewer tokens on replay, 5,370 runs recorded, 65 cents total. Be honest if asked: on long free-text chats (the public Who&amp;When benchmark) the LLM judge is still ahead; our hybrid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proof instead of guesses, fast and free to run, plug and play, and honest evaluation. What's next: catch real failures from small local models, a hybrid where Black Box shortlists and an LLM picks, and developer tools like one-click regression tests. Close: every AI agent in production needs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
        <p:nvSpPr>
          <p:cNvPr id="4"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spc="200" kern="0" dirty="0">
                <a:solidFill>
                  <a:schemeClr val="bg2"/>
                </a:solidFill>
              </a:rPr>
              <a:t>BLACK BOX  ·  TEAM NEURALFORGE</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4572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BNB26  ·  TEAM NEURALFORGE</a:t>
            </a:r>
            <a:endParaRPr lang="en-US" sz="1200" dirty="0"/>
          </a:p>
        </p:txBody>
      </p:sp>
      <p:sp>
        <p:nvSpPr>
          <p:cNvPr id="3" name="Text 1"/>
          <p:cNvSpPr txBox="1"/>
          <p:nvPr/>
        </p:nvSpPr>
        <p:spPr>
          <a:xfrm>
            <a:off x="548640" y="914400"/>
            <a:ext cx="5120640" cy="914400"/>
          </a:xfrm>
          <a:prstGeom prst="rect">
            <a:avLst/>
          </a:prstGeom>
          <a:noFill/>
          <a:ln/>
        </p:spPr>
        <p:txBody>
          <a:bodyPr wrap="square" lIns="0" tIns="0" rIns="0" bIns="0" rtlCol="0" anchor="ctr"/>
          <a:lstStyle/>
          <a:p>
            <a:pPr indent="0" marL="0">
              <a:buNone/>
            </a:pPr>
            <a:r>
              <a:rPr lang="en-US" sz="6000" b="1" dirty="0">
                <a:solidFill>
                  <a:schemeClr val="bg1"/>
                </a:solidFill>
              </a:rPr>
              <a:t>Black Box</a:t>
            </a:r>
            <a:endParaRPr lang="en-US" sz="6000" dirty="0"/>
          </a:p>
        </p:txBody>
      </p:sp>
      <p:sp>
        <p:nvSpPr>
          <p:cNvPr id="4" name="Text 2"/>
          <p:cNvSpPr txBox="1"/>
          <p:nvPr/>
        </p:nvSpPr>
        <p:spPr>
          <a:xfrm>
            <a:off x="548640" y="1828800"/>
            <a:ext cx="5120640" cy="457200"/>
          </a:xfrm>
          <a:prstGeom prst="rect">
            <a:avLst/>
          </a:prstGeom>
          <a:noFill/>
          <a:ln/>
        </p:spPr>
        <p:txBody>
          <a:bodyPr wrap="square" lIns="0" tIns="0" rIns="0" bIns="0" rtlCol="0" anchor="ctr"/>
          <a:lstStyle/>
          <a:p>
            <a:pPr indent="0" marL="0">
              <a:buNone/>
            </a:pPr>
            <a:r>
              <a:rPr lang="en-US" sz="2400" dirty="0">
                <a:solidFill>
                  <a:schemeClr val="accent1"/>
                </a:solidFill>
              </a:rPr>
              <a:t>A flight recorder for AI agents</a:t>
            </a:r>
            <a:endParaRPr lang="en-US" sz="2400" dirty="0"/>
          </a:p>
        </p:txBody>
      </p:sp>
      <p:sp>
        <p:nvSpPr>
          <p:cNvPr id="5" name="Text 3"/>
          <p:cNvSpPr txBox="1"/>
          <p:nvPr/>
        </p:nvSpPr>
        <p:spPr>
          <a:xfrm>
            <a:off x="548640" y="2468880"/>
            <a:ext cx="4572000" cy="731520"/>
          </a:xfrm>
          <a:prstGeom prst="rect">
            <a:avLst/>
          </a:prstGeom>
          <a:noFill/>
          <a:ln/>
        </p:spPr>
        <p:txBody>
          <a:bodyPr wrap="square" lIns="0" tIns="0" rIns="0" bIns="0" rtlCol="0" anchor="ctr"/>
          <a:lstStyle/>
          <a:p>
            <a:pPr indent="0" marL="0">
              <a:buNone/>
            </a:pPr>
            <a:r>
              <a:rPr lang="en-US" sz="1600" dirty="0">
                <a:solidFill>
                  <a:schemeClr val="bg2"/>
                </a:solidFill>
              </a:rPr>
              <a:t>Finds the step that broke your AI agent, explains why in plain words, and proves it by replaying the fix.</a:t>
            </a:r>
            <a:endParaRPr lang="en-US" sz="1600" dirty="0"/>
          </a:p>
        </p:txBody>
      </p:sp>
      <p:sp>
        <p:nvSpPr>
          <p:cNvPr id="6" name="Stat pill 1"/>
          <p:cNvSpPr/>
          <p:nvPr/>
        </p:nvSpPr>
        <p:spPr>
          <a:xfrm>
            <a:off x="548640" y="3520440"/>
            <a:ext cx="1463040" cy="868680"/>
          </a:xfrm>
          <a:prstGeom prst="roundRect">
            <a:avLst>
              <a:gd name="adj" fmla="val 12632"/>
            </a:avLst>
          </a:prstGeom>
          <a:solidFill>
            <a:schemeClr val="tx2"/>
          </a:solidFill>
          <a:ln/>
        </p:spPr>
      </p:sp>
      <p:sp>
        <p:nvSpPr>
          <p:cNvPr id="7" name="Text 5"/>
          <p:cNvSpPr txBox="1"/>
          <p:nvPr/>
        </p:nvSpPr>
        <p:spPr>
          <a:xfrm>
            <a:off x="548640" y="3584448"/>
            <a:ext cx="1463040" cy="457200"/>
          </a:xfrm>
          <a:prstGeom prst="rect">
            <a:avLst/>
          </a:prstGeom>
          <a:noFill/>
          <a:ln/>
        </p:spPr>
        <p:txBody>
          <a:bodyPr wrap="square" lIns="0" tIns="0" rIns="0" bIns="0" rtlCol="0" anchor="ctr"/>
          <a:lstStyle/>
          <a:p>
            <a:pPr algn="ctr" indent="0" marL="0">
              <a:buNone/>
            </a:pPr>
            <a:r>
              <a:rPr lang="en-US" sz="2200" b="1" dirty="0">
                <a:solidFill>
                  <a:schemeClr val="accent1"/>
                </a:solidFill>
              </a:rPr>
              <a:t>27 ms</a:t>
            </a:r>
            <a:endParaRPr lang="en-US" sz="2200" dirty="0"/>
          </a:p>
        </p:txBody>
      </p:sp>
      <p:sp>
        <p:nvSpPr>
          <p:cNvPr id="8" name="Text 6"/>
          <p:cNvSpPr txBox="1"/>
          <p:nvPr/>
        </p:nvSpPr>
        <p:spPr>
          <a:xfrm>
            <a:off x="548640" y="4023360"/>
            <a:ext cx="1463040" cy="274320"/>
          </a:xfrm>
          <a:prstGeom prst="rect">
            <a:avLst/>
          </a:prstGeom>
          <a:noFill/>
          <a:ln/>
        </p:spPr>
        <p:txBody>
          <a:bodyPr wrap="square" lIns="0" tIns="0" rIns="0" bIns="0" rtlCol="0" anchor="ctr"/>
          <a:lstStyle/>
          <a:p>
            <a:pPr algn="ctr" indent="0" marL="0">
              <a:buNone/>
            </a:pPr>
            <a:r>
              <a:rPr lang="en-US" sz="1100" dirty="0">
                <a:solidFill>
                  <a:schemeClr val="bg2"/>
                </a:solidFill>
              </a:rPr>
              <a:t>per diagnosis</a:t>
            </a:r>
            <a:endParaRPr lang="en-US" sz="1100" dirty="0"/>
          </a:p>
        </p:txBody>
      </p:sp>
      <p:sp>
        <p:nvSpPr>
          <p:cNvPr id="9" name="Stat pill 2"/>
          <p:cNvSpPr/>
          <p:nvPr/>
        </p:nvSpPr>
        <p:spPr>
          <a:xfrm>
            <a:off x="2148840" y="3520440"/>
            <a:ext cx="1463040" cy="868680"/>
          </a:xfrm>
          <a:prstGeom prst="roundRect">
            <a:avLst>
              <a:gd name="adj" fmla="val 12632"/>
            </a:avLst>
          </a:prstGeom>
          <a:solidFill>
            <a:schemeClr val="tx2"/>
          </a:solidFill>
          <a:ln/>
        </p:spPr>
      </p:sp>
      <p:sp>
        <p:nvSpPr>
          <p:cNvPr id="10" name="Text 8"/>
          <p:cNvSpPr txBox="1"/>
          <p:nvPr/>
        </p:nvSpPr>
        <p:spPr>
          <a:xfrm>
            <a:off x="2148840" y="3584448"/>
            <a:ext cx="1463040" cy="457200"/>
          </a:xfrm>
          <a:prstGeom prst="rect">
            <a:avLst/>
          </a:prstGeom>
          <a:noFill/>
          <a:ln/>
        </p:spPr>
        <p:txBody>
          <a:bodyPr wrap="square" lIns="0" tIns="0" rIns="0" bIns="0" rtlCol="0" anchor="ctr"/>
          <a:lstStyle/>
          <a:p>
            <a:pPr algn="ctr" indent="0" marL="0">
              <a:buNone/>
            </a:pPr>
            <a:r>
              <a:rPr lang="en-US" sz="2200" b="1" dirty="0">
                <a:solidFill>
                  <a:schemeClr val="accent1"/>
                </a:solidFill>
              </a:rPr>
              <a:t>100%</a:t>
            </a:r>
            <a:endParaRPr lang="en-US" sz="2200" dirty="0"/>
          </a:p>
        </p:txBody>
      </p:sp>
      <p:sp>
        <p:nvSpPr>
          <p:cNvPr id="11" name="Text 9"/>
          <p:cNvSpPr txBox="1"/>
          <p:nvPr/>
        </p:nvSpPr>
        <p:spPr>
          <a:xfrm>
            <a:off x="2148840" y="4023360"/>
            <a:ext cx="1463040" cy="274320"/>
          </a:xfrm>
          <a:prstGeom prst="rect">
            <a:avLst/>
          </a:prstGeom>
          <a:noFill/>
          <a:ln/>
        </p:spPr>
        <p:txBody>
          <a:bodyPr wrap="square" lIns="0" tIns="0" rIns="0" bIns="0" rtlCol="0" anchor="ctr"/>
          <a:lstStyle/>
          <a:p>
            <a:pPr algn="ctr" indent="0" marL="0">
              <a:buNone/>
            </a:pPr>
            <a:r>
              <a:rPr lang="en-US" sz="1100" dirty="0">
                <a:solidFill>
                  <a:schemeClr val="bg2"/>
                </a:solidFill>
              </a:rPr>
              <a:t>right step found</a:t>
            </a:r>
            <a:endParaRPr lang="en-US" sz="1100" dirty="0"/>
          </a:p>
        </p:txBody>
      </p:sp>
      <p:sp>
        <p:nvSpPr>
          <p:cNvPr id="12" name="Stat pill 3"/>
          <p:cNvSpPr/>
          <p:nvPr/>
        </p:nvSpPr>
        <p:spPr>
          <a:xfrm>
            <a:off x="3749040" y="3520440"/>
            <a:ext cx="1463040" cy="868680"/>
          </a:xfrm>
          <a:prstGeom prst="roundRect">
            <a:avLst>
              <a:gd name="adj" fmla="val 12632"/>
            </a:avLst>
          </a:prstGeom>
          <a:solidFill>
            <a:schemeClr val="tx2"/>
          </a:solidFill>
          <a:ln/>
        </p:spPr>
      </p:sp>
      <p:sp>
        <p:nvSpPr>
          <p:cNvPr id="13" name="Text 11"/>
          <p:cNvSpPr txBox="1"/>
          <p:nvPr/>
        </p:nvSpPr>
        <p:spPr>
          <a:xfrm>
            <a:off x="3749040" y="3584448"/>
            <a:ext cx="1463040" cy="457200"/>
          </a:xfrm>
          <a:prstGeom prst="rect">
            <a:avLst/>
          </a:prstGeom>
          <a:noFill/>
          <a:ln/>
        </p:spPr>
        <p:txBody>
          <a:bodyPr wrap="square" lIns="0" tIns="0" rIns="0" bIns="0" rtlCol="0" anchor="ctr"/>
          <a:lstStyle/>
          <a:p>
            <a:pPr algn="ctr" indent="0" marL="0">
              <a:buNone/>
            </a:pPr>
            <a:r>
              <a:rPr lang="en-US" sz="2200" b="1" dirty="0">
                <a:solidFill>
                  <a:schemeClr val="accent1"/>
                </a:solidFill>
              </a:rPr>
              <a:t>$0.65</a:t>
            </a:r>
            <a:endParaRPr lang="en-US" sz="2200" dirty="0"/>
          </a:p>
        </p:txBody>
      </p:sp>
      <p:sp>
        <p:nvSpPr>
          <p:cNvPr id="14" name="Text 12"/>
          <p:cNvSpPr txBox="1"/>
          <p:nvPr/>
        </p:nvSpPr>
        <p:spPr>
          <a:xfrm>
            <a:off x="3749040" y="4023360"/>
            <a:ext cx="1463040" cy="274320"/>
          </a:xfrm>
          <a:prstGeom prst="rect">
            <a:avLst/>
          </a:prstGeom>
          <a:noFill/>
          <a:ln/>
        </p:spPr>
        <p:txBody>
          <a:bodyPr wrap="square" lIns="0" tIns="0" rIns="0" bIns="0" rtlCol="0" anchor="ctr"/>
          <a:lstStyle/>
          <a:p>
            <a:pPr algn="ctr" indent="0" marL="0">
              <a:buNone/>
            </a:pPr>
            <a:r>
              <a:rPr lang="en-US" sz="1100" dirty="0">
                <a:solidFill>
                  <a:schemeClr val="bg2"/>
                </a:solidFill>
              </a:rPr>
              <a:t>total API cost</a:t>
            </a:r>
            <a:endParaRPr lang="en-US" sz="1100" dirty="0"/>
          </a:p>
        </p:txBody>
      </p:sp>
      <p:sp>
        <p:nvSpPr>
          <p:cNvPr id="15" name="Trace tape panel"/>
          <p:cNvSpPr/>
          <p:nvPr/>
        </p:nvSpPr>
        <p:spPr>
          <a:xfrm>
            <a:off x="5989320" y="502920"/>
            <a:ext cx="2697480" cy="4114800"/>
          </a:xfrm>
          <a:prstGeom prst="roundRect">
            <a:avLst>
              <a:gd name="adj" fmla="val 4068"/>
            </a:avLst>
          </a:prstGeom>
          <a:solidFill>
            <a:schemeClr val="tx2"/>
          </a:solidFill>
          <a:ln/>
        </p:spPr>
      </p:sp>
      <p:sp>
        <p:nvSpPr>
          <p:cNvPr id="16" name="Text 14"/>
          <p:cNvSpPr txBox="1"/>
          <p:nvPr/>
        </p:nvSpPr>
        <p:spPr>
          <a:xfrm>
            <a:off x="6217920" y="640080"/>
            <a:ext cx="2286000" cy="274320"/>
          </a:xfrm>
          <a:prstGeom prst="rect">
            <a:avLst/>
          </a:prstGeom>
          <a:noFill/>
          <a:ln/>
        </p:spPr>
        <p:txBody>
          <a:bodyPr wrap="square" lIns="0" tIns="0" rIns="0" bIns="0" rtlCol="0" anchor="ctr"/>
          <a:lstStyle/>
          <a:p>
            <a:pPr indent="0" marL="0">
              <a:buNone/>
            </a:pPr>
            <a:r>
              <a:rPr lang="en-US" sz="1000" b="1" spc="200" kern="0" dirty="0">
                <a:solidFill>
                  <a:schemeClr val="bg2"/>
                </a:solidFill>
              </a:rPr>
              <a:t>AGENT RUN  R-7F41</a:t>
            </a:r>
            <a:endParaRPr lang="en-US" sz="1000" dirty="0"/>
          </a:p>
        </p:txBody>
      </p:sp>
      <p:sp>
        <p:nvSpPr>
          <p:cNvPr id="17" name="Tape step 1"/>
          <p:cNvSpPr/>
          <p:nvPr/>
        </p:nvSpPr>
        <p:spPr>
          <a:xfrm>
            <a:off x="6217920" y="987552"/>
            <a:ext cx="2240280" cy="274320"/>
          </a:xfrm>
          <a:prstGeom prst="roundRect">
            <a:avLst>
              <a:gd name="adj" fmla="val 20000"/>
            </a:avLst>
          </a:prstGeom>
          <a:solidFill>
            <a:schemeClr val="tx1"/>
          </a:solidFill>
          <a:ln/>
        </p:spPr>
      </p:sp>
      <p:sp>
        <p:nvSpPr>
          <p:cNvPr id="18" name="Tape step 1 label"/>
          <p:cNvSpPr txBox="1"/>
          <p:nvPr/>
        </p:nvSpPr>
        <p:spPr>
          <a:xfrm>
            <a:off x="6309360" y="987552"/>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01  </a:t>
            </a:r>
            <a:pPr indent="0" marL="0">
              <a:buNone/>
            </a:pPr>
            <a:r>
              <a:rPr lang="en-US" sz="1000" dirty="0">
                <a:solidFill>
                  <a:schemeClr val="bg1"/>
                </a:solidFill>
              </a:rPr>
              <a:t>Plan</a:t>
            </a:r>
            <a:endParaRPr lang="en-US" sz="1000" dirty="0"/>
          </a:p>
        </p:txBody>
      </p:sp>
      <p:sp>
        <p:nvSpPr>
          <p:cNvPr id="19" name="Tape step 2"/>
          <p:cNvSpPr/>
          <p:nvPr/>
        </p:nvSpPr>
        <p:spPr>
          <a:xfrm>
            <a:off x="6217920" y="1325880"/>
            <a:ext cx="2240280" cy="274320"/>
          </a:xfrm>
          <a:prstGeom prst="roundRect">
            <a:avLst>
              <a:gd name="adj" fmla="val 20000"/>
            </a:avLst>
          </a:prstGeom>
          <a:solidFill>
            <a:schemeClr val="tx1"/>
          </a:solidFill>
          <a:ln/>
        </p:spPr>
      </p:sp>
      <p:sp>
        <p:nvSpPr>
          <p:cNvPr id="20" name="Tape step 2 label"/>
          <p:cNvSpPr txBox="1"/>
          <p:nvPr/>
        </p:nvSpPr>
        <p:spPr>
          <a:xfrm>
            <a:off x="6309360" y="1325880"/>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02  </a:t>
            </a:r>
            <a:pPr indent="0" marL="0">
              <a:buNone/>
            </a:pPr>
            <a:r>
              <a:rPr lang="en-US" sz="1000" dirty="0">
                <a:solidFill>
                  <a:schemeClr val="bg1"/>
                </a:solidFill>
              </a:rPr>
              <a:t>Route</a:t>
            </a:r>
            <a:endParaRPr lang="en-US" sz="1000" dirty="0"/>
          </a:p>
        </p:txBody>
      </p:sp>
      <p:sp>
        <p:nvSpPr>
          <p:cNvPr id="21" name="Tape step 3"/>
          <p:cNvSpPr/>
          <p:nvPr/>
        </p:nvSpPr>
        <p:spPr>
          <a:xfrm>
            <a:off x="6217920" y="1664208"/>
            <a:ext cx="2240280" cy="274320"/>
          </a:xfrm>
          <a:prstGeom prst="roundRect">
            <a:avLst>
              <a:gd name="adj" fmla="val 20000"/>
            </a:avLst>
          </a:prstGeom>
          <a:solidFill>
            <a:schemeClr val="accent1"/>
          </a:solidFill>
          <a:ln/>
        </p:spPr>
      </p:sp>
      <p:sp>
        <p:nvSpPr>
          <p:cNvPr id="22" name="Tape step 3 label"/>
          <p:cNvSpPr txBox="1"/>
          <p:nvPr/>
        </p:nvSpPr>
        <p:spPr>
          <a:xfrm>
            <a:off x="6309360" y="1664208"/>
            <a:ext cx="1463040" cy="274320"/>
          </a:xfrm>
          <a:prstGeom prst="rect">
            <a:avLst/>
          </a:prstGeom>
          <a:noFill/>
          <a:ln/>
        </p:spPr>
        <p:txBody>
          <a:bodyPr wrap="square" lIns="0" tIns="0" rIns="0" bIns="0" rtlCol="0" anchor="ctr"/>
          <a:lstStyle/>
          <a:p>
            <a:pPr indent="0" marL="0">
              <a:buNone/>
            </a:pPr>
            <a:r>
              <a:rPr lang="en-US" sz="1000" b="1" dirty="0">
                <a:solidFill>
                  <a:schemeClr val="tx1"/>
                </a:solidFill>
              </a:rPr>
              <a:t>03  </a:t>
            </a:r>
            <a:pPr indent="0" marL="0">
              <a:buNone/>
            </a:pPr>
            <a:r>
              <a:rPr lang="en-US" sz="1000" b="1" dirty="0">
                <a:solidFill>
                  <a:schemeClr val="tx1"/>
                </a:solidFill>
              </a:rPr>
              <a:t>Fetch FX rate</a:t>
            </a:r>
            <a:endParaRPr lang="en-US" sz="1000" dirty="0"/>
          </a:p>
        </p:txBody>
      </p:sp>
      <p:sp>
        <p:nvSpPr>
          <p:cNvPr id="23" name="Text 21"/>
          <p:cNvSpPr txBox="1"/>
          <p:nvPr/>
        </p:nvSpPr>
        <p:spPr>
          <a:xfrm>
            <a:off x="7635240" y="1664208"/>
            <a:ext cx="777240" cy="274320"/>
          </a:xfrm>
          <a:prstGeom prst="rect">
            <a:avLst/>
          </a:prstGeom>
          <a:noFill/>
          <a:ln/>
        </p:spPr>
        <p:txBody>
          <a:bodyPr wrap="square" lIns="0" tIns="0" rIns="0" bIns="0" rtlCol="0" anchor="ctr"/>
          <a:lstStyle/>
          <a:p>
            <a:pPr algn="r" indent="0" marL="0">
              <a:buNone/>
            </a:pPr>
            <a:r>
              <a:rPr lang="en-US" sz="800" b="1" dirty="0">
                <a:solidFill>
                  <a:schemeClr val="tx1"/>
                </a:solidFill>
              </a:rPr>
              <a:t>ROOT CAUSE</a:t>
            </a:r>
            <a:endParaRPr lang="en-US" sz="800" dirty="0"/>
          </a:p>
        </p:txBody>
      </p:sp>
      <p:sp>
        <p:nvSpPr>
          <p:cNvPr id="24" name="Tape step 4"/>
          <p:cNvSpPr/>
          <p:nvPr/>
        </p:nvSpPr>
        <p:spPr>
          <a:xfrm>
            <a:off x="6217920" y="2002536"/>
            <a:ext cx="2240280" cy="274320"/>
          </a:xfrm>
          <a:prstGeom prst="roundRect">
            <a:avLst>
              <a:gd name="adj" fmla="val 20000"/>
            </a:avLst>
          </a:prstGeom>
          <a:solidFill>
            <a:schemeClr val="tx1"/>
          </a:solidFill>
          <a:ln/>
        </p:spPr>
      </p:sp>
      <p:sp>
        <p:nvSpPr>
          <p:cNvPr id="25" name="Tape step 4 label"/>
          <p:cNvSpPr txBox="1"/>
          <p:nvPr/>
        </p:nvSpPr>
        <p:spPr>
          <a:xfrm>
            <a:off x="6309360" y="2002536"/>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04  </a:t>
            </a:r>
            <a:pPr indent="0" marL="0">
              <a:buNone/>
            </a:pPr>
            <a:r>
              <a:rPr lang="en-US" sz="1000" dirty="0">
                <a:solidFill>
                  <a:schemeClr val="bg1"/>
                </a:solidFill>
              </a:rPr>
              <a:t>Search</a:t>
            </a:r>
            <a:endParaRPr lang="en-US" sz="1000" dirty="0"/>
          </a:p>
        </p:txBody>
      </p:sp>
      <p:sp>
        <p:nvSpPr>
          <p:cNvPr id="26" name="Tape step 5"/>
          <p:cNvSpPr/>
          <p:nvPr/>
        </p:nvSpPr>
        <p:spPr>
          <a:xfrm>
            <a:off x="6217920" y="2340864"/>
            <a:ext cx="2240280" cy="274320"/>
          </a:xfrm>
          <a:prstGeom prst="roundRect">
            <a:avLst>
              <a:gd name="adj" fmla="val 20000"/>
            </a:avLst>
          </a:prstGeom>
          <a:solidFill>
            <a:schemeClr val="tx1"/>
          </a:solidFill>
          <a:ln/>
        </p:spPr>
      </p:sp>
      <p:sp>
        <p:nvSpPr>
          <p:cNvPr id="27" name="Tape step 5 label"/>
          <p:cNvSpPr txBox="1"/>
          <p:nvPr/>
        </p:nvSpPr>
        <p:spPr>
          <a:xfrm>
            <a:off x="6309360" y="2340864"/>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05  </a:t>
            </a:r>
            <a:pPr indent="0" marL="0">
              <a:buNone/>
            </a:pPr>
            <a:r>
              <a:rPr lang="en-US" sz="1000" dirty="0">
                <a:solidFill>
                  <a:schemeClr val="bg1"/>
                </a:solidFill>
              </a:rPr>
              <a:t>Convert</a:t>
            </a:r>
            <a:endParaRPr lang="en-US" sz="1000" dirty="0"/>
          </a:p>
        </p:txBody>
      </p:sp>
      <p:sp>
        <p:nvSpPr>
          <p:cNvPr id="28" name="Tape step 6"/>
          <p:cNvSpPr/>
          <p:nvPr/>
        </p:nvSpPr>
        <p:spPr>
          <a:xfrm>
            <a:off x="6217920" y="2679192"/>
            <a:ext cx="2240280" cy="274320"/>
          </a:xfrm>
          <a:prstGeom prst="roundRect">
            <a:avLst>
              <a:gd name="adj" fmla="val 20000"/>
            </a:avLst>
          </a:prstGeom>
          <a:solidFill>
            <a:schemeClr val="tx1"/>
          </a:solidFill>
          <a:ln/>
        </p:spPr>
      </p:sp>
      <p:sp>
        <p:nvSpPr>
          <p:cNvPr id="29" name="Tape step 6 label"/>
          <p:cNvSpPr txBox="1"/>
          <p:nvPr/>
        </p:nvSpPr>
        <p:spPr>
          <a:xfrm>
            <a:off x="6309360" y="2679192"/>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06  </a:t>
            </a:r>
            <a:pPr indent="0" marL="0">
              <a:buNone/>
            </a:pPr>
            <a:r>
              <a:rPr lang="en-US" sz="1000" dirty="0">
                <a:solidFill>
                  <a:schemeClr val="bg1"/>
                </a:solidFill>
              </a:rPr>
              <a:t>Memory</a:t>
            </a:r>
            <a:endParaRPr lang="en-US" sz="1000" dirty="0"/>
          </a:p>
        </p:txBody>
      </p:sp>
      <p:sp>
        <p:nvSpPr>
          <p:cNvPr id="30" name="Tape step 7"/>
          <p:cNvSpPr/>
          <p:nvPr/>
        </p:nvSpPr>
        <p:spPr>
          <a:xfrm>
            <a:off x="6217920" y="3017520"/>
            <a:ext cx="2240280" cy="274320"/>
          </a:xfrm>
          <a:prstGeom prst="roundRect">
            <a:avLst>
              <a:gd name="adj" fmla="val 20000"/>
            </a:avLst>
          </a:prstGeom>
          <a:solidFill>
            <a:schemeClr val="tx1"/>
          </a:solidFill>
          <a:ln/>
        </p:spPr>
      </p:sp>
      <p:sp>
        <p:nvSpPr>
          <p:cNvPr id="31" name="Tape step 7 label"/>
          <p:cNvSpPr txBox="1"/>
          <p:nvPr/>
        </p:nvSpPr>
        <p:spPr>
          <a:xfrm>
            <a:off x="6309360" y="3017520"/>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07  </a:t>
            </a:r>
            <a:pPr indent="0" marL="0">
              <a:buNone/>
            </a:pPr>
            <a:r>
              <a:rPr lang="en-US" sz="1000" dirty="0">
                <a:solidFill>
                  <a:schemeClr val="bg1"/>
                </a:solidFill>
              </a:rPr>
              <a:t>Dates</a:t>
            </a:r>
            <a:endParaRPr lang="en-US" sz="1000" dirty="0"/>
          </a:p>
        </p:txBody>
      </p:sp>
      <p:sp>
        <p:nvSpPr>
          <p:cNvPr id="32" name="Tape step 8"/>
          <p:cNvSpPr/>
          <p:nvPr/>
        </p:nvSpPr>
        <p:spPr>
          <a:xfrm>
            <a:off x="6217920" y="3355848"/>
            <a:ext cx="2240280" cy="274320"/>
          </a:xfrm>
          <a:prstGeom prst="roundRect">
            <a:avLst>
              <a:gd name="adj" fmla="val 20000"/>
            </a:avLst>
          </a:prstGeom>
          <a:solidFill>
            <a:schemeClr val="tx1"/>
          </a:solidFill>
          <a:ln/>
        </p:spPr>
      </p:sp>
      <p:sp>
        <p:nvSpPr>
          <p:cNvPr id="33" name="Tape step 8 label"/>
          <p:cNvSpPr txBox="1"/>
          <p:nvPr/>
        </p:nvSpPr>
        <p:spPr>
          <a:xfrm>
            <a:off x="6309360" y="3355848"/>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08  </a:t>
            </a:r>
            <a:pPr indent="0" marL="0">
              <a:buNone/>
            </a:pPr>
            <a:r>
              <a:rPr lang="en-US" sz="1000" dirty="0">
                <a:solidFill>
                  <a:schemeClr val="bg1"/>
                </a:solidFill>
              </a:rPr>
              <a:t>Calculate</a:t>
            </a:r>
            <a:endParaRPr lang="en-US" sz="1000" dirty="0"/>
          </a:p>
        </p:txBody>
      </p:sp>
      <p:sp>
        <p:nvSpPr>
          <p:cNvPr id="34" name="Tape step 9"/>
          <p:cNvSpPr/>
          <p:nvPr/>
        </p:nvSpPr>
        <p:spPr>
          <a:xfrm>
            <a:off x="6217920" y="3694176"/>
            <a:ext cx="2240280" cy="274320"/>
          </a:xfrm>
          <a:prstGeom prst="roundRect">
            <a:avLst>
              <a:gd name="adj" fmla="val 20000"/>
            </a:avLst>
          </a:prstGeom>
          <a:solidFill>
            <a:schemeClr val="tx1"/>
          </a:solidFill>
          <a:ln/>
        </p:spPr>
      </p:sp>
      <p:sp>
        <p:nvSpPr>
          <p:cNvPr id="35" name="Tape step 9 label"/>
          <p:cNvSpPr txBox="1"/>
          <p:nvPr/>
        </p:nvSpPr>
        <p:spPr>
          <a:xfrm>
            <a:off x="6309360" y="3694176"/>
            <a:ext cx="1463040" cy="274320"/>
          </a:xfrm>
          <a:prstGeom prst="rect">
            <a:avLst/>
          </a:prstGeom>
          <a:noFill/>
          <a:ln/>
        </p:spPr>
        <p:txBody>
          <a:bodyPr wrap="square" lIns="0" tIns="0" rIns="0" bIns="0" rtlCol="0" anchor="ctr"/>
          <a:lstStyle/>
          <a:p>
            <a:pPr indent="0" marL="0">
              <a:buNone/>
            </a:pPr>
            <a:r>
              <a:rPr lang="en-US" sz="1000" b="1" dirty="0">
                <a:solidFill>
                  <a:schemeClr val="bg2"/>
                </a:solidFill>
              </a:rPr>
              <a:t>09  </a:t>
            </a:r>
            <a:pPr indent="0" marL="0">
              <a:buNone/>
            </a:pPr>
            <a:r>
              <a:rPr lang="en-US" sz="1000" dirty="0">
                <a:solidFill>
                  <a:schemeClr val="bg1"/>
                </a:solidFill>
              </a:rPr>
              <a:t>Reason</a:t>
            </a:r>
            <a:endParaRPr lang="en-US" sz="1000" dirty="0"/>
          </a:p>
        </p:txBody>
      </p:sp>
      <p:sp>
        <p:nvSpPr>
          <p:cNvPr id="36" name="Tape step 10"/>
          <p:cNvSpPr/>
          <p:nvPr/>
        </p:nvSpPr>
        <p:spPr>
          <a:xfrm>
            <a:off x="6217920" y="4032504"/>
            <a:ext cx="2240280" cy="274320"/>
          </a:xfrm>
          <a:prstGeom prst="roundRect">
            <a:avLst>
              <a:gd name="adj" fmla="val 20000"/>
            </a:avLst>
          </a:prstGeom>
          <a:solidFill>
            <a:schemeClr val="accent3"/>
          </a:solidFill>
          <a:ln/>
        </p:spPr>
      </p:sp>
      <p:sp>
        <p:nvSpPr>
          <p:cNvPr id="37" name="Tape step 10 label"/>
          <p:cNvSpPr txBox="1"/>
          <p:nvPr/>
        </p:nvSpPr>
        <p:spPr>
          <a:xfrm>
            <a:off x="6309360" y="4032504"/>
            <a:ext cx="1463040" cy="274320"/>
          </a:xfrm>
          <a:prstGeom prst="rect">
            <a:avLst/>
          </a:prstGeom>
          <a:noFill/>
          <a:ln/>
        </p:spPr>
        <p:txBody>
          <a:bodyPr wrap="square" lIns="0" tIns="0" rIns="0" bIns="0" rtlCol="0" anchor="ctr"/>
          <a:lstStyle/>
          <a:p>
            <a:pPr indent="0" marL="0">
              <a:buNone/>
            </a:pPr>
            <a:r>
              <a:rPr lang="en-US" sz="1000" b="1" dirty="0">
                <a:solidFill>
                  <a:schemeClr val="tx1"/>
                </a:solidFill>
              </a:rPr>
              <a:t>10  </a:t>
            </a:r>
            <a:pPr indent="0" marL="0">
              <a:buNone/>
            </a:pPr>
            <a:r>
              <a:rPr lang="en-US" sz="1000" b="1" dirty="0">
                <a:solidFill>
                  <a:schemeClr val="tx1"/>
                </a:solidFill>
              </a:rPr>
              <a:t>Answer</a:t>
            </a:r>
            <a:endParaRPr lang="en-US" sz="1000" dirty="0"/>
          </a:p>
        </p:txBody>
      </p:sp>
      <p:sp>
        <p:nvSpPr>
          <p:cNvPr id="38" name="Text 36"/>
          <p:cNvSpPr txBox="1"/>
          <p:nvPr/>
        </p:nvSpPr>
        <p:spPr>
          <a:xfrm>
            <a:off x="7635240" y="4032504"/>
            <a:ext cx="777240" cy="274320"/>
          </a:xfrm>
          <a:prstGeom prst="rect">
            <a:avLst/>
          </a:prstGeom>
          <a:noFill/>
          <a:ln/>
        </p:spPr>
        <p:txBody>
          <a:bodyPr wrap="square" lIns="0" tIns="0" rIns="0" bIns="0" rtlCol="0" anchor="ctr"/>
          <a:lstStyle/>
          <a:p>
            <a:pPr algn="r" indent="0" marL="0">
              <a:buNone/>
            </a:pPr>
            <a:r>
              <a:rPr lang="en-US" sz="800" b="1" dirty="0">
                <a:solidFill>
                  <a:schemeClr val="tx1"/>
                </a:solidFill>
              </a:rPr>
              <a:t>SYMPTOM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Agents fail silently</a:t>
            </a: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lIns="0" tIns="0" rIns="0" bIns="0" rtlCol="0" anchor="t"/>
          <a:lstStyle/>
          <a:p>
            <a:pPr indent="0" marL="0">
              <a:buNone/>
            </a:pPr>
            <a:r>
              <a:rPr lang="en-US" sz="1400" dirty="0">
                <a:solidFill>
                  <a:schemeClr val="bg2"/>
                </a:solidFill>
              </a:rPr>
              <a:t>One bad step early on quietly turns into a wrong answer at the end</a:t>
            </a:r>
            <a:endParaRPr lang="en-US" sz="1400" dirty="0"/>
          </a:p>
        </p:txBody>
      </p:sp>
      <p:sp>
        <p:nvSpPr>
          <p:cNvPr id="4" name="Chain step 1"/>
          <p:cNvSpPr/>
          <p:nvPr/>
        </p:nvSpPr>
        <p:spPr>
          <a:xfrm>
            <a:off x="457200" y="1417320"/>
            <a:ext cx="731520" cy="384048"/>
          </a:xfrm>
          <a:prstGeom prst="roundRect">
            <a:avLst>
              <a:gd name="adj" fmla="val 19048"/>
            </a:avLst>
          </a:prstGeom>
          <a:solidFill>
            <a:schemeClr val="tx2"/>
          </a:solidFill>
          <a:ln/>
        </p:spPr>
      </p:sp>
      <p:sp>
        <p:nvSpPr>
          <p:cNvPr id="5" name="Chain step 1 label"/>
          <p:cNvSpPr txBox="1"/>
          <p:nvPr/>
        </p:nvSpPr>
        <p:spPr>
          <a:xfrm>
            <a:off x="457200" y="1417320"/>
            <a:ext cx="731520" cy="384048"/>
          </a:xfrm>
          <a:prstGeom prst="rect">
            <a:avLst/>
          </a:prstGeom>
          <a:noFill/>
          <a:ln/>
        </p:spPr>
        <p:txBody>
          <a:bodyPr wrap="square" lIns="0" tIns="0" rIns="0" bIns="0" rtlCol="0" anchor="ctr"/>
          <a:lstStyle/>
          <a:p>
            <a:pPr algn="ctr" indent="0" marL="0">
              <a:buNone/>
            </a:pPr>
            <a:r>
              <a:rPr lang="en-US" sz="1000" b="1" dirty="0">
                <a:solidFill>
                  <a:schemeClr val="bg1"/>
                </a:solidFill>
              </a:rPr>
              <a:t>Plan</a:t>
            </a:r>
            <a:endParaRPr lang="en-US" sz="1000" dirty="0"/>
          </a:p>
        </p:txBody>
      </p:sp>
      <p:sp>
        <p:nvSpPr>
          <p:cNvPr id="6" name="Chain arrow 1"/>
          <p:cNvSpPr/>
          <p:nvPr/>
        </p:nvSpPr>
        <p:spPr>
          <a:xfrm>
            <a:off x="1188720" y="1609344"/>
            <a:ext cx="96012" cy="0"/>
          </a:xfrm>
          <a:prstGeom prst="line">
            <a:avLst/>
          </a:prstGeom>
          <a:noFill/>
          <a:ln w="22225">
            <a:solidFill>
              <a:schemeClr val="bg2"/>
            </a:solidFill>
            <a:prstDash val="solid"/>
            <a:tailEnd type="triangle"/>
          </a:ln>
        </p:spPr>
      </p:sp>
      <p:sp>
        <p:nvSpPr>
          <p:cNvPr id="7" name="Chain step 2"/>
          <p:cNvSpPr/>
          <p:nvPr/>
        </p:nvSpPr>
        <p:spPr>
          <a:xfrm>
            <a:off x="1284732" y="1417320"/>
            <a:ext cx="731520" cy="384048"/>
          </a:xfrm>
          <a:prstGeom prst="roundRect">
            <a:avLst>
              <a:gd name="adj" fmla="val 19048"/>
            </a:avLst>
          </a:prstGeom>
          <a:solidFill>
            <a:schemeClr val="tx2"/>
          </a:solidFill>
          <a:ln/>
        </p:spPr>
      </p:sp>
      <p:sp>
        <p:nvSpPr>
          <p:cNvPr id="8" name="Chain step 2 label"/>
          <p:cNvSpPr txBox="1"/>
          <p:nvPr/>
        </p:nvSpPr>
        <p:spPr>
          <a:xfrm>
            <a:off x="1284732" y="1417320"/>
            <a:ext cx="731520" cy="384048"/>
          </a:xfrm>
          <a:prstGeom prst="rect">
            <a:avLst/>
          </a:prstGeom>
          <a:noFill/>
          <a:ln/>
        </p:spPr>
        <p:txBody>
          <a:bodyPr wrap="square" lIns="0" tIns="0" rIns="0" bIns="0" rtlCol="0" anchor="ctr"/>
          <a:lstStyle/>
          <a:p>
            <a:pPr algn="ctr" indent="0" marL="0">
              <a:buNone/>
            </a:pPr>
            <a:r>
              <a:rPr lang="en-US" sz="1000" b="1" dirty="0">
                <a:solidFill>
                  <a:schemeClr val="bg1"/>
                </a:solidFill>
              </a:rPr>
              <a:t>Route</a:t>
            </a:r>
            <a:endParaRPr lang="en-US" sz="1000" dirty="0"/>
          </a:p>
        </p:txBody>
      </p:sp>
      <p:sp>
        <p:nvSpPr>
          <p:cNvPr id="9" name="Chain arrow 2"/>
          <p:cNvSpPr/>
          <p:nvPr/>
        </p:nvSpPr>
        <p:spPr>
          <a:xfrm>
            <a:off x="2016252" y="1609344"/>
            <a:ext cx="96012" cy="0"/>
          </a:xfrm>
          <a:prstGeom prst="line">
            <a:avLst/>
          </a:prstGeom>
          <a:noFill/>
          <a:ln w="22225">
            <a:solidFill>
              <a:schemeClr val="bg2"/>
            </a:solidFill>
            <a:prstDash val="solid"/>
            <a:tailEnd type="triangle"/>
          </a:ln>
        </p:spPr>
      </p:sp>
      <p:sp>
        <p:nvSpPr>
          <p:cNvPr id="10" name="Chain step 3"/>
          <p:cNvSpPr/>
          <p:nvPr/>
        </p:nvSpPr>
        <p:spPr>
          <a:xfrm>
            <a:off x="2112264" y="1417320"/>
            <a:ext cx="731520" cy="384048"/>
          </a:xfrm>
          <a:prstGeom prst="roundRect">
            <a:avLst>
              <a:gd name="adj" fmla="val 19048"/>
            </a:avLst>
          </a:prstGeom>
          <a:solidFill>
            <a:schemeClr val="accent1"/>
          </a:solidFill>
          <a:ln/>
        </p:spPr>
      </p:sp>
      <p:sp>
        <p:nvSpPr>
          <p:cNvPr id="11" name="Chain step 3 label"/>
          <p:cNvSpPr txBox="1"/>
          <p:nvPr/>
        </p:nvSpPr>
        <p:spPr>
          <a:xfrm>
            <a:off x="2112264" y="1417320"/>
            <a:ext cx="731520" cy="384048"/>
          </a:xfrm>
          <a:prstGeom prst="rect">
            <a:avLst/>
          </a:prstGeom>
          <a:noFill/>
          <a:ln/>
        </p:spPr>
        <p:txBody>
          <a:bodyPr wrap="square" lIns="0" tIns="0" rIns="0" bIns="0" rtlCol="0" anchor="ctr"/>
          <a:lstStyle/>
          <a:p>
            <a:pPr algn="ctr" indent="0" marL="0">
              <a:buNone/>
            </a:pPr>
            <a:r>
              <a:rPr lang="en-US" sz="1000" b="1" dirty="0">
                <a:solidFill>
                  <a:schemeClr val="tx1"/>
                </a:solidFill>
              </a:rPr>
              <a:t>Fetch</a:t>
            </a:r>
            <a:endParaRPr lang="en-US" sz="1000" dirty="0"/>
          </a:p>
        </p:txBody>
      </p:sp>
      <p:sp>
        <p:nvSpPr>
          <p:cNvPr id="12" name="Chain arrow 3"/>
          <p:cNvSpPr/>
          <p:nvPr/>
        </p:nvSpPr>
        <p:spPr>
          <a:xfrm>
            <a:off x="2843784" y="1609344"/>
            <a:ext cx="96012" cy="0"/>
          </a:xfrm>
          <a:prstGeom prst="line">
            <a:avLst/>
          </a:prstGeom>
          <a:noFill/>
          <a:ln w="22225">
            <a:solidFill>
              <a:schemeClr val="bg2"/>
            </a:solidFill>
            <a:prstDash val="solid"/>
            <a:tailEnd type="triangle"/>
          </a:ln>
        </p:spPr>
      </p:sp>
      <p:sp>
        <p:nvSpPr>
          <p:cNvPr id="13" name="Chain step 4"/>
          <p:cNvSpPr/>
          <p:nvPr/>
        </p:nvSpPr>
        <p:spPr>
          <a:xfrm>
            <a:off x="2939796" y="1417320"/>
            <a:ext cx="731520" cy="384048"/>
          </a:xfrm>
          <a:prstGeom prst="roundRect">
            <a:avLst>
              <a:gd name="adj" fmla="val 19048"/>
            </a:avLst>
          </a:prstGeom>
          <a:solidFill>
            <a:schemeClr val="tx2"/>
          </a:solidFill>
          <a:ln/>
        </p:spPr>
      </p:sp>
      <p:sp>
        <p:nvSpPr>
          <p:cNvPr id="14" name="Chain step 4 label"/>
          <p:cNvSpPr txBox="1"/>
          <p:nvPr/>
        </p:nvSpPr>
        <p:spPr>
          <a:xfrm>
            <a:off x="2939796"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Search</a:t>
            </a:r>
            <a:endParaRPr lang="en-US" sz="1000" dirty="0"/>
          </a:p>
        </p:txBody>
      </p:sp>
      <p:sp>
        <p:nvSpPr>
          <p:cNvPr id="15" name="Chain arrow 4"/>
          <p:cNvSpPr/>
          <p:nvPr/>
        </p:nvSpPr>
        <p:spPr>
          <a:xfrm>
            <a:off x="3671316" y="1609344"/>
            <a:ext cx="96012" cy="0"/>
          </a:xfrm>
          <a:prstGeom prst="line">
            <a:avLst/>
          </a:prstGeom>
          <a:noFill/>
          <a:ln w="22225">
            <a:solidFill>
              <a:schemeClr val="bg2"/>
            </a:solidFill>
            <a:prstDash val="solid"/>
            <a:tailEnd type="triangle"/>
          </a:ln>
        </p:spPr>
      </p:sp>
      <p:sp>
        <p:nvSpPr>
          <p:cNvPr id="16" name="Chain step 5"/>
          <p:cNvSpPr/>
          <p:nvPr/>
        </p:nvSpPr>
        <p:spPr>
          <a:xfrm>
            <a:off x="3767328" y="1417320"/>
            <a:ext cx="731520" cy="384048"/>
          </a:xfrm>
          <a:prstGeom prst="roundRect">
            <a:avLst>
              <a:gd name="adj" fmla="val 19048"/>
            </a:avLst>
          </a:prstGeom>
          <a:solidFill>
            <a:schemeClr val="tx2"/>
          </a:solidFill>
          <a:ln/>
        </p:spPr>
      </p:sp>
      <p:sp>
        <p:nvSpPr>
          <p:cNvPr id="17" name="Chain step 5 label"/>
          <p:cNvSpPr txBox="1"/>
          <p:nvPr/>
        </p:nvSpPr>
        <p:spPr>
          <a:xfrm>
            <a:off x="3767328"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Convert</a:t>
            </a:r>
            <a:endParaRPr lang="en-US" sz="1000" dirty="0"/>
          </a:p>
        </p:txBody>
      </p:sp>
      <p:sp>
        <p:nvSpPr>
          <p:cNvPr id="18" name="Chain arrow 5"/>
          <p:cNvSpPr/>
          <p:nvPr/>
        </p:nvSpPr>
        <p:spPr>
          <a:xfrm>
            <a:off x="4498848" y="1609344"/>
            <a:ext cx="96012" cy="0"/>
          </a:xfrm>
          <a:prstGeom prst="line">
            <a:avLst/>
          </a:prstGeom>
          <a:noFill/>
          <a:ln w="22225">
            <a:solidFill>
              <a:schemeClr val="bg2"/>
            </a:solidFill>
            <a:prstDash val="solid"/>
            <a:tailEnd type="triangle"/>
          </a:ln>
        </p:spPr>
      </p:sp>
      <p:sp>
        <p:nvSpPr>
          <p:cNvPr id="19" name="Chain step 6"/>
          <p:cNvSpPr/>
          <p:nvPr/>
        </p:nvSpPr>
        <p:spPr>
          <a:xfrm>
            <a:off x="4594860" y="1417320"/>
            <a:ext cx="731520" cy="384048"/>
          </a:xfrm>
          <a:prstGeom prst="roundRect">
            <a:avLst>
              <a:gd name="adj" fmla="val 19048"/>
            </a:avLst>
          </a:prstGeom>
          <a:solidFill>
            <a:schemeClr val="tx2"/>
          </a:solidFill>
          <a:ln/>
        </p:spPr>
      </p:sp>
      <p:sp>
        <p:nvSpPr>
          <p:cNvPr id="20" name="Chain step 6 label"/>
          <p:cNvSpPr txBox="1"/>
          <p:nvPr/>
        </p:nvSpPr>
        <p:spPr>
          <a:xfrm>
            <a:off x="4594860"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Memory</a:t>
            </a:r>
            <a:endParaRPr lang="en-US" sz="1000" dirty="0"/>
          </a:p>
        </p:txBody>
      </p:sp>
      <p:sp>
        <p:nvSpPr>
          <p:cNvPr id="21" name="Chain arrow 6"/>
          <p:cNvSpPr/>
          <p:nvPr/>
        </p:nvSpPr>
        <p:spPr>
          <a:xfrm>
            <a:off x="5326380" y="1609344"/>
            <a:ext cx="96012" cy="0"/>
          </a:xfrm>
          <a:prstGeom prst="line">
            <a:avLst/>
          </a:prstGeom>
          <a:noFill/>
          <a:ln w="22225">
            <a:solidFill>
              <a:schemeClr val="bg2"/>
            </a:solidFill>
            <a:prstDash val="solid"/>
            <a:tailEnd type="triangle"/>
          </a:ln>
        </p:spPr>
      </p:sp>
      <p:sp>
        <p:nvSpPr>
          <p:cNvPr id="22" name="Chain step 7"/>
          <p:cNvSpPr/>
          <p:nvPr/>
        </p:nvSpPr>
        <p:spPr>
          <a:xfrm>
            <a:off x="5422392" y="1417320"/>
            <a:ext cx="731520" cy="384048"/>
          </a:xfrm>
          <a:prstGeom prst="roundRect">
            <a:avLst>
              <a:gd name="adj" fmla="val 19048"/>
            </a:avLst>
          </a:prstGeom>
          <a:solidFill>
            <a:schemeClr val="tx2"/>
          </a:solidFill>
          <a:ln/>
        </p:spPr>
      </p:sp>
      <p:sp>
        <p:nvSpPr>
          <p:cNvPr id="23" name="Chain step 7 label"/>
          <p:cNvSpPr txBox="1"/>
          <p:nvPr/>
        </p:nvSpPr>
        <p:spPr>
          <a:xfrm>
            <a:off x="5422392"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Dates</a:t>
            </a:r>
            <a:endParaRPr lang="en-US" sz="1000" dirty="0"/>
          </a:p>
        </p:txBody>
      </p:sp>
      <p:sp>
        <p:nvSpPr>
          <p:cNvPr id="24" name="Chain arrow 7"/>
          <p:cNvSpPr/>
          <p:nvPr/>
        </p:nvSpPr>
        <p:spPr>
          <a:xfrm>
            <a:off x="6153912" y="1609344"/>
            <a:ext cx="96012" cy="0"/>
          </a:xfrm>
          <a:prstGeom prst="line">
            <a:avLst/>
          </a:prstGeom>
          <a:noFill/>
          <a:ln w="22225">
            <a:solidFill>
              <a:schemeClr val="bg2"/>
            </a:solidFill>
            <a:prstDash val="solid"/>
            <a:tailEnd type="triangle"/>
          </a:ln>
        </p:spPr>
      </p:sp>
      <p:sp>
        <p:nvSpPr>
          <p:cNvPr id="25" name="Chain step 8"/>
          <p:cNvSpPr/>
          <p:nvPr/>
        </p:nvSpPr>
        <p:spPr>
          <a:xfrm>
            <a:off x="6249924" y="1417320"/>
            <a:ext cx="731520" cy="384048"/>
          </a:xfrm>
          <a:prstGeom prst="roundRect">
            <a:avLst>
              <a:gd name="adj" fmla="val 19048"/>
            </a:avLst>
          </a:prstGeom>
          <a:solidFill>
            <a:schemeClr val="tx2"/>
          </a:solidFill>
          <a:ln/>
        </p:spPr>
      </p:sp>
      <p:sp>
        <p:nvSpPr>
          <p:cNvPr id="26" name="Chain step 8 label"/>
          <p:cNvSpPr txBox="1"/>
          <p:nvPr/>
        </p:nvSpPr>
        <p:spPr>
          <a:xfrm>
            <a:off x="6249924"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Calc</a:t>
            </a:r>
            <a:endParaRPr lang="en-US" sz="1000" dirty="0"/>
          </a:p>
        </p:txBody>
      </p:sp>
      <p:sp>
        <p:nvSpPr>
          <p:cNvPr id="27" name="Chain arrow 8"/>
          <p:cNvSpPr/>
          <p:nvPr/>
        </p:nvSpPr>
        <p:spPr>
          <a:xfrm>
            <a:off x="6981444" y="1609344"/>
            <a:ext cx="96012" cy="0"/>
          </a:xfrm>
          <a:prstGeom prst="line">
            <a:avLst/>
          </a:prstGeom>
          <a:noFill/>
          <a:ln w="22225">
            <a:solidFill>
              <a:schemeClr val="bg2"/>
            </a:solidFill>
            <a:prstDash val="solid"/>
            <a:tailEnd type="triangle"/>
          </a:ln>
        </p:spPr>
      </p:sp>
      <p:sp>
        <p:nvSpPr>
          <p:cNvPr id="28" name="Chain step 9"/>
          <p:cNvSpPr/>
          <p:nvPr/>
        </p:nvSpPr>
        <p:spPr>
          <a:xfrm>
            <a:off x="7077456" y="1417320"/>
            <a:ext cx="731520" cy="384048"/>
          </a:xfrm>
          <a:prstGeom prst="roundRect">
            <a:avLst>
              <a:gd name="adj" fmla="val 19048"/>
            </a:avLst>
          </a:prstGeom>
          <a:solidFill>
            <a:schemeClr val="tx2"/>
          </a:solidFill>
          <a:ln/>
        </p:spPr>
      </p:sp>
      <p:sp>
        <p:nvSpPr>
          <p:cNvPr id="29" name="Chain step 9 label"/>
          <p:cNvSpPr txBox="1"/>
          <p:nvPr/>
        </p:nvSpPr>
        <p:spPr>
          <a:xfrm>
            <a:off x="7077456" y="1417320"/>
            <a:ext cx="731520" cy="384048"/>
          </a:xfrm>
          <a:prstGeom prst="rect">
            <a:avLst/>
          </a:prstGeom>
          <a:noFill/>
          <a:ln/>
        </p:spPr>
        <p:txBody>
          <a:bodyPr wrap="square" lIns="0" tIns="0" rIns="0" bIns="0" rtlCol="0" anchor="ctr"/>
          <a:lstStyle/>
          <a:p>
            <a:pPr algn="ctr" indent="0" marL="0">
              <a:buNone/>
            </a:pPr>
            <a:r>
              <a:rPr lang="en-US" sz="1000" b="1" dirty="0">
                <a:solidFill>
                  <a:schemeClr val="accent6"/>
                </a:solidFill>
              </a:rPr>
              <a:t>Reason</a:t>
            </a:r>
            <a:endParaRPr lang="en-US" sz="1000" dirty="0"/>
          </a:p>
        </p:txBody>
      </p:sp>
      <p:sp>
        <p:nvSpPr>
          <p:cNvPr id="30" name="Chain arrow 9"/>
          <p:cNvSpPr/>
          <p:nvPr/>
        </p:nvSpPr>
        <p:spPr>
          <a:xfrm>
            <a:off x="7808976" y="1609344"/>
            <a:ext cx="96012" cy="0"/>
          </a:xfrm>
          <a:prstGeom prst="line">
            <a:avLst/>
          </a:prstGeom>
          <a:noFill/>
          <a:ln w="22225">
            <a:solidFill>
              <a:schemeClr val="bg2"/>
            </a:solidFill>
            <a:prstDash val="solid"/>
            <a:tailEnd type="triangle"/>
          </a:ln>
        </p:spPr>
      </p:sp>
      <p:sp>
        <p:nvSpPr>
          <p:cNvPr id="31" name="Chain step 10"/>
          <p:cNvSpPr/>
          <p:nvPr/>
        </p:nvSpPr>
        <p:spPr>
          <a:xfrm>
            <a:off x="7904988" y="1417320"/>
            <a:ext cx="731520" cy="384048"/>
          </a:xfrm>
          <a:prstGeom prst="roundRect">
            <a:avLst>
              <a:gd name="adj" fmla="val 19048"/>
            </a:avLst>
          </a:prstGeom>
          <a:solidFill>
            <a:schemeClr val="accent3"/>
          </a:solidFill>
          <a:ln/>
        </p:spPr>
      </p:sp>
      <p:sp>
        <p:nvSpPr>
          <p:cNvPr id="32" name="Chain step 10 label"/>
          <p:cNvSpPr txBox="1"/>
          <p:nvPr/>
        </p:nvSpPr>
        <p:spPr>
          <a:xfrm>
            <a:off x="7904988" y="1417320"/>
            <a:ext cx="731520" cy="384048"/>
          </a:xfrm>
          <a:prstGeom prst="rect">
            <a:avLst/>
          </a:prstGeom>
          <a:noFill/>
          <a:ln/>
        </p:spPr>
        <p:txBody>
          <a:bodyPr wrap="square" lIns="0" tIns="0" rIns="0" bIns="0" rtlCol="0" anchor="ctr"/>
          <a:lstStyle/>
          <a:p>
            <a:pPr algn="ctr" indent="0" marL="0">
              <a:buNone/>
            </a:pPr>
            <a:r>
              <a:rPr lang="en-US" sz="1000" b="1" dirty="0">
                <a:solidFill>
                  <a:schemeClr val="tx1"/>
                </a:solidFill>
              </a:rPr>
              <a:t>Answer</a:t>
            </a:r>
            <a:endParaRPr lang="en-US" sz="1000" dirty="0"/>
          </a:p>
        </p:txBody>
      </p:sp>
      <p:sp>
        <p:nvSpPr>
          <p:cNvPr id="33" name="Text 31"/>
          <p:cNvSpPr txBox="1"/>
          <p:nvPr/>
        </p:nvSpPr>
        <p:spPr>
          <a:xfrm>
            <a:off x="457200" y="1874520"/>
            <a:ext cx="2926080" cy="274320"/>
          </a:xfrm>
          <a:prstGeom prst="rect">
            <a:avLst/>
          </a:prstGeom>
          <a:noFill/>
          <a:ln/>
        </p:spPr>
        <p:txBody>
          <a:bodyPr wrap="square" lIns="0" tIns="0" rIns="0" bIns="0" rtlCol="0" anchor="ctr"/>
          <a:lstStyle/>
          <a:p>
            <a:pPr indent="0" marL="0">
              <a:buNone/>
            </a:pPr>
            <a:r>
              <a:rPr lang="en-US" sz="1200" b="1" dirty="0">
                <a:solidFill>
                  <a:schemeClr val="accent1"/>
                </a:solidFill>
              </a:rPr>
              <a:t>Stale exchange rate enters here</a:t>
            </a:r>
            <a:endParaRPr lang="en-US" sz="1200" dirty="0"/>
          </a:p>
        </p:txBody>
      </p:sp>
      <p:sp>
        <p:nvSpPr>
          <p:cNvPr id="34" name="Text 32"/>
          <p:cNvSpPr txBox="1"/>
          <p:nvPr/>
        </p:nvSpPr>
        <p:spPr>
          <a:xfrm>
            <a:off x="5394960" y="1874520"/>
            <a:ext cx="3291840" cy="274320"/>
          </a:xfrm>
          <a:prstGeom prst="rect">
            <a:avLst/>
          </a:prstGeom>
          <a:noFill/>
          <a:ln/>
        </p:spPr>
        <p:txBody>
          <a:bodyPr wrap="square" lIns="0" tIns="0" rIns="0" bIns="0" rtlCol="0" anchor="ctr"/>
          <a:lstStyle/>
          <a:p>
            <a:pPr algn="r" indent="0" marL="0">
              <a:buNone/>
            </a:pPr>
            <a:r>
              <a:rPr lang="en-US" sz="1200" b="1" dirty="0">
                <a:solidFill>
                  <a:schemeClr val="accent3"/>
                </a:solidFill>
              </a:rPr>
              <a:t>…but the wrong answer shows up here</a:t>
            </a:r>
            <a:endParaRPr lang="en-US" sz="1200" dirty="0"/>
          </a:p>
        </p:txBody>
      </p:sp>
      <p:sp>
        <p:nvSpPr>
          <p:cNvPr id="35" name="Problem card 1"/>
          <p:cNvSpPr/>
          <p:nvPr/>
        </p:nvSpPr>
        <p:spPr>
          <a:xfrm>
            <a:off x="457200" y="2377440"/>
            <a:ext cx="2606040" cy="2148840"/>
          </a:xfrm>
          <a:prstGeom prst="roundRect">
            <a:avLst>
              <a:gd name="adj" fmla="val 5106"/>
            </a:avLst>
          </a:prstGeom>
          <a:solidFill>
            <a:schemeClr val="tx2"/>
          </a:solidFill>
          <a:ln/>
        </p:spPr>
      </p:sp>
      <p:sp>
        <p:nvSpPr>
          <p:cNvPr id="36" name="Problem icon circle 1"/>
          <p:cNvSpPr/>
          <p:nvPr/>
        </p:nvSpPr>
        <p:spPr>
          <a:xfrm>
            <a:off x="685800" y="2578608"/>
            <a:ext cx="548640" cy="548640"/>
          </a:xfrm>
          <a:prstGeom prst="ellipse">
            <a:avLst/>
          </a:prstGeom>
          <a:solidFill>
            <a:schemeClr val="tx1"/>
          </a:solidFill>
          <a:ln/>
        </p:spPr>
      </p:sp>
      <p:pic>
        <p:nvPicPr>
          <p:cNvPr id="37" name="Problem icon 1" descr="preencoded.png">    </p:cNvPr>
          <p:cNvPicPr>
            <a:picLocks noChangeAspect="1"/>
          </p:cNvPicPr>
          <p:nvPr/>
        </p:nvPicPr>
        <p:blipFill>
          <a:blip r:embed="rId1"/>
          <a:stretch>
            <a:fillRect/>
          </a:stretch>
        </p:blipFill>
        <p:spPr>
          <a:xfrm>
            <a:off x="813816" y="2706624"/>
            <a:ext cx="292608" cy="292608"/>
          </a:xfrm>
          <a:prstGeom prst="rect">
            <a:avLst/>
          </a:prstGeom>
        </p:spPr>
      </p:pic>
      <p:sp>
        <p:nvSpPr>
          <p:cNvPr id="38" name="Text 35"/>
          <p:cNvSpPr txBox="1"/>
          <p:nvPr/>
        </p:nvSpPr>
        <p:spPr>
          <a:xfrm>
            <a:off x="685800" y="324612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Errors travel</a:t>
            </a:r>
            <a:endParaRPr lang="en-US" sz="1600" dirty="0"/>
          </a:p>
        </p:txBody>
      </p:sp>
      <p:sp>
        <p:nvSpPr>
          <p:cNvPr id="39" name="Text 36"/>
          <p:cNvSpPr txBox="1"/>
          <p:nvPr/>
        </p:nvSpPr>
        <p:spPr>
          <a:xfrm>
            <a:off x="685800" y="3630168"/>
            <a:ext cx="2194560" cy="822960"/>
          </a:xfrm>
          <a:prstGeom prst="rect">
            <a:avLst/>
          </a:prstGeom>
          <a:noFill/>
          <a:ln/>
        </p:spPr>
        <p:txBody>
          <a:bodyPr wrap="square" lIns="0" tIns="0" rIns="0" bIns="0" rtlCol="0" anchor="t"/>
          <a:lstStyle/>
          <a:p>
            <a:pPr indent="0" marL="0">
              <a:buNone/>
            </a:pPr>
            <a:r>
              <a:rPr lang="en-US" sz="1300" dirty="0">
                <a:solidFill>
                  <a:schemeClr val="bg2"/>
                </a:solidFill>
              </a:rPr>
              <a:t>A mistake at step 3 passes through six more steps before anyone sees it at step 10.</a:t>
            </a:r>
            <a:endParaRPr lang="en-US" sz="1300" dirty="0"/>
          </a:p>
        </p:txBody>
      </p:sp>
      <p:sp>
        <p:nvSpPr>
          <p:cNvPr id="40" name="Problem card 2"/>
          <p:cNvSpPr/>
          <p:nvPr/>
        </p:nvSpPr>
        <p:spPr>
          <a:xfrm>
            <a:off x="3246120" y="2377440"/>
            <a:ext cx="2606040" cy="2148840"/>
          </a:xfrm>
          <a:prstGeom prst="roundRect">
            <a:avLst>
              <a:gd name="adj" fmla="val 5106"/>
            </a:avLst>
          </a:prstGeom>
          <a:solidFill>
            <a:schemeClr val="tx2"/>
          </a:solidFill>
          <a:ln/>
        </p:spPr>
      </p:sp>
      <p:sp>
        <p:nvSpPr>
          <p:cNvPr id="41" name="Problem icon circle 2"/>
          <p:cNvSpPr/>
          <p:nvPr/>
        </p:nvSpPr>
        <p:spPr>
          <a:xfrm>
            <a:off x="3474720" y="2578608"/>
            <a:ext cx="548640" cy="548640"/>
          </a:xfrm>
          <a:prstGeom prst="ellipse">
            <a:avLst/>
          </a:prstGeom>
          <a:solidFill>
            <a:schemeClr val="tx1"/>
          </a:solidFill>
          <a:ln/>
        </p:spPr>
      </p:sp>
      <p:pic>
        <p:nvPicPr>
          <p:cNvPr id="42" name="Problem icon 2" descr="preencoded.png">    </p:cNvPr>
          <p:cNvPicPr>
            <a:picLocks noChangeAspect="1"/>
          </p:cNvPicPr>
          <p:nvPr/>
        </p:nvPicPr>
        <p:blipFill>
          <a:blip r:embed="rId2"/>
          <a:stretch>
            <a:fillRect/>
          </a:stretch>
        </p:blipFill>
        <p:spPr>
          <a:xfrm>
            <a:off x="3602736" y="2706624"/>
            <a:ext cx="292608" cy="292608"/>
          </a:xfrm>
          <a:prstGeom prst="rect">
            <a:avLst/>
          </a:prstGeom>
        </p:spPr>
      </p:pic>
      <p:sp>
        <p:nvSpPr>
          <p:cNvPr id="43" name="Text 39"/>
          <p:cNvSpPr txBox="1"/>
          <p:nvPr/>
        </p:nvSpPr>
        <p:spPr>
          <a:xfrm>
            <a:off x="3474720" y="324612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The wrong suspect</a:t>
            </a:r>
            <a:endParaRPr lang="en-US" sz="1600" dirty="0"/>
          </a:p>
        </p:txBody>
      </p:sp>
      <p:sp>
        <p:nvSpPr>
          <p:cNvPr id="44" name="Text 40"/>
          <p:cNvSpPr txBox="1"/>
          <p:nvPr/>
        </p:nvSpPr>
        <p:spPr>
          <a:xfrm>
            <a:off x="3474720" y="3630168"/>
            <a:ext cx="2194560" cy="822960"/>
          </a:xfrm>
          <a:prstGeom prst="rect">
            <a:avLst/>
          </a:prstGeom>
          <a:noFill/>
          <a:ln/>
        </p:spPr>
        <p:txBody>
          <a:bodyPr wrap="square" lIns="0" tIns="0" rIns="0" bIns="0" rtlCol="0" anchor="t"/>
          <a:lstStyle/>
          <a:p>
            <a:pPr indent="0" marL="0">
              <a:buNone/>
            </a:pPr>
            <a:r>
              <a:rPr lang="en-US" sz="1300" dirty="0">
                <a:solidFill>
                  <a:schemeClr val="bg2"/>
                </a:solidFill>
              </a:rPr>
              <a:t>Blaming the last step finds the real cause 0% of the time in our tests.</a:t>
            </a:r>
            <a:endParaRPr lang="en-US" sz="1300" dirty="0"/>
          </a:p>
        </p:txBody>
      </p:sp>
      <p:sp>
        <p:nvSpPr>
          <p:cNvPr id="45" name="Problem card 3"/>
          <p:cNvSpPr/>
          <p:nvPr/>
        </p:nvSpPr>
        <p:spPr>
          <a:xfrm>
            <a:off x="6035040" y="2377440"/>
            <a:ext cx="2606040" cy="2148840"/>
          </a:xfrm>
          <a:prstGeom prst="roundRect">
            <a:avLst>
              <a:gd name="adj" fmla="val 5106"/>
            </a:avLst>
          </a:prstGeom>
          <a:solidFill>
            <a:schemeClr val="tx2"/>
          </a:solidFill>
          <a:ln/>
        </p:spPr>
      </p:sp>
      <p:sp>
        <p:nvSpPr>
          <p:cNvPr id="46" name="Problem icon circle 3"/>
          <p:cNvSpPr/>
          <p:nvPr/>
        </p:nvSpPr>
        <p:spPr>
          <a:xfrm>
            <a:off x="6263640" y="2578608"/>
            <a:ext cx="548640" cy="548640"/>
          </a:xfrm>
          <a:prstGeom prst="ellipse">
            <a:avLst/>
          </a:prstGeom>
          <a:solidFill>
            <a:schemeClr val="tx1"/>
          </a:solidFill>
          <a:ln/>
        </p:spPr>
      </p:sp>
      <p:pic>
        <p:nvPicPr>
          <p:cNvPr id="47" name="Problem icon 3" descr="preencoded.png">    </p:cNvPr>
          <p:cNvPicPr>
            <a:picLocks noChangeAspect="1"/>
          </p:cNvPicPr>
          <p:nvPr/>
        </p:nvPicPr>
        <p:blipFill>
          <a:blip r:embed="rId3"/>
          <a:stretch>
            <a:fillRect/>
          </a:stretch>
        </p:blipFill>
        <p:spPr>
          <a:xfrm>
            <a:off x="6391656" y="2706624"/>
            <a:ext cx="292608" cy="292608"/>
          </a:xfrm>
          <a:prstGeom prst="rect">
            <a:avLst/>
          </a:prstGeom>
        </p:spPr>
      </p:pic>
      <p:sp>
        <p:nvSpPr>
          <p:cNvPr id="48" name="Text 43"/>
          <p:cNvSpPr txBox="1"/>
          <p:nvPr/>
        </p:nvSpPr>
        <p:spPr>
          <a:xfrm>
            <a:off x="6263640" y="3246120"/>
            <a:ext cx="2194560" cy="365760"/>
          </a:xfrm>
          <a:prstGeom prst="rect">
            <a:avLst/>
          </a:prstGeom>
          <a:noFill/>
          <a:ln/>
        </p:spPr>
        <p:txBody>
          <a:bodyPr wrap="square" lIns="0" tIns="0" rIns="0" bIns="0" rtlCol="0" anchor="ctr"/>
          <a:lstStyle/>
          <a:p>
            <a:pPr indent="0" marL="0">
              <a:buNone/>
            </a:pPr>
            <a:r>
              <a:rPr lang="en-US" sz="1600" b="1" dirty="0">
                <a:solidFill>
                  <a:schemeClr val="bg1"/>
                </a:solidFill>
              </a:rPr>
              <a:t>Debugging doesn't scale</a:t>
            </a:r>
            <a:endParaRPr lang="en-US" sz="1600" dirty="0"/>
          </a:p>
        </p:txBody>
      </p:sp>
      <p:sp>
        <p:nvSpPr>
          <p:cNvPr id="49" name="Text 44"/>
          <p:cNvSpPr txBox="1"/>
          <p:nvPr/>
        </p:nvSpPr>
        <p:spPr>
          <a:xfrm>
            <a:off x="6263640" y="3630168"/>
            <a:ext cx="2194560" cy="822960"/>
          </a:xfrm>
          <a:prstGeom prst="rect">
            <a:avLst/>
          </a:prstGeom>
          <a:noFill/>
          <a:ln/>
        </p:spPr>
        <p:txBody>
          <a:bodyPr wrap="square" lIns="0" tIns="0" rIns="0" bIns="0" rtlCol="0" anchor="t"/>
          <a:lstStyle/>
          <a:p>
            <a:pPr indent="0" marL="0">
              <a:buNone/>
            </a:pPr>
            <a:r>
              <a:rPr lang="en-US" sz="1300" dirty="0">
                <a:solidFill>
                  <a:schemeClr val="bg2"/>
                </a:solidFill>
              </a:rPr>
              <a:t>Reading every step by hand is slow. AI judges cost money per run and give no proof.</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Record. Diagnose. Explain. Prove.</a:t>
            </a: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lIns="0" tIns="0" rIns="0" bIns="0" rtlCol="0" anchor="t"/>
          <a:lstStyle/>
          <a:p>
            <a:pPr indent="0" marL="0">
              <a:buNone/>
            </a:pPr>
            <a:r>
              <a:rPr lang="en-US" sz="1400" dirty="0">
                <a:solidFill>
                  <a:schemeClr val="bg2"/>
                </a:solidFill>
              </a:rPr>
              <a:t>Four steps from a failed run to a confirmed root cause</a:t>
            </a:r>
            <a:endParaRPr lang="en-US" sz="1400" dirty="0"/>
          </a:p>
        </p:txBody>
      </p:sp>
      <p:sp>
        <p:nvSpPr>
          <p:cNvPr id="4" name="Solution card 1"/>
          <p:cNvSpPr/>
          <p:nvPr/>
        </p:nvSpPr>
        <p:spPr>
          <a:xfrm>
            <a:off x="457200" y="1325880"/>
            <a:ext cx="1920240" cy="2148840"/>
          </a:xfrm>
          <a:prstGeom prst="roundRect">
            <a:avLst>
              <a:gd name="adj" fmla="val 5714"/>
            </a:avLst>
          </a:prstGeom>
          <a:solidFill>
            <a:schemeClr val="tx2"/>
          </a:solidFill>
          <a:ln/>
        </p:spPr>
      </p:sp>
      <p:sp>
        <p:nvSpPr>
          <p:cNvPr id="5" name="Solution icon circle 1"/>
          <p:cNvSpPr/>
          <p:nvPr/>
        </p:nvSpPr>
        <p:spPr>
          <a:xfrm>
            <a:off x="658368" y="1508760"/>
            <a:ext cx="566928" cy="566928"/>
          </a:xfrm>
          <a:prstGeom prst="ellipse">
            <a:avLst/>
          </a:prstGeom>
          <a:solidFill>
            <a:schemeClr val="accent1"/>
          </a:solidFill>
          <a:ln/>
        </p:spPr>
      </p:sp>
      <p:pic>
        <p:nvPicPr>
          <p:cNvPr id="6" name="Solution icon 1" descr="preencoded.png">    </p:cNvPr>
          <p:cNvPicPr>
            <a:picLocks noChangeAspect="1"/>
          </p:cNvPicPr>
          <p:nvPr/>
        </p:nvPicPr>
        <p:blipFill>
          <a:blip r:embed="rId1"/>
          <a:stretch>
            <a:fillRect/>
          </a:stretch>
        </p:blipFill>
        <p:spPr>
          <a:xfrm>
            <a:off x="795528" y="1645920"/>
            <a:ext cx="292608" cy="292608"/>
          </a:xfrm>
          <a:prstGeom prst="rect">
            <a:avLst/>
          </a:prstGeom>
        </p:spPr>
      </p:pic>
      <p:sp>
        <p:nvSpPr>
          <p:cNvPr id="7" name="Text 4"/>
          <p:cNvSpPr txBox="1"/>
          <p:nvPr/>
        </p:nvSpPr>
        <p:spPr>
          <a:xfrm>
            <a:off x="1645920" y="1554480"/>
            <a:ext cx="548640" cy="457200"/>
          </a:xfrm>
          <a:prstGeom prst="rect">
            <a:avLst/>
          </a:prstGeom>
          <a:noFill/>
          <a:ln/>
        </p:spPr>
        <p:txBody>
          <a:bodyPr wrap="square" lIns="0" tIns="0" rIns="0" bIns="0" rtlCol="0" anchor="ctr"/>
          <a:lstStyle/>
          <a:p>
            <a:pPr algn="r" indent="0" marL="0">
              <a:buNone/>
            </a:pPr>
            <a:r>
              <a:rPr lang="en-US" sz="2200" b="1" dirty="0">
                <a:solidFill>
                  <a:schemeClr val="bg2"/>
                </a:solidFill>
              </a:rPr>
              <a:t>01</a:t>
            </a:r>
            <a:endParaRPr lang="en-US" sz="2200" dirty="0"/>
          </a:p>
        </p:txBody>
      </p:sp>
      <p:sp>
        <p:nvSpPr>
          <p:cNvPr id="8" name="Text 5"/>
          <p:cNvSpPr txBox="1"/>
          <p:nvPr/>
        </p:nvSpPr>
        <p:spPr>
          <a:xfrm>
            <a:off x="658368" y="2212848"/>
            <a:ext cx="1554480" cy="320040"/>
          </a:xfrm>
          <a:prstGeom prst="rect">
            <a:avLst/>
          </a:prstGeom>
          <a:noFill/>
          <a:ln/>
        </p:spPr>
        <p:txBody>
          <a:bodyPr wrap="square" lIns="0" tIns="0" rIns="0" bIns="0" rtlCol="0" anchor="ctr"/>
          <a:lstStyle/>
          <a:p>
            <a:pPr indent="0" marL="0">
              <a:buNone/>
            </a:pPr>
            <a:r>
              <a:rPr lang="en-US" sz="1700" b="1" dirty="0">
                <a:solidFill>
                  <a:schemeClr val="bg1"/>
                </a:solidFill>
              </a:rPr>
              <a:t>Record</a:t>
            </a:r>
            <a:endParaRPr lang="en-US" sz="1700" dirty="0"/>
          </a:p>
        </p:txBody>
      </p:sp>
      <p:sp>
        <p:nvSpPr>
          <p:cNvPr id="9" name="Text 6"/>
          <p:cNvSpPr txBox="1"/>
          <p:nvPr/>
        </p:nvSpPr>
        <p:spPr>
          <a:xfrm>
            <a:off x="658368" y="2560320"/>
            <a:ext cx="1572768" cy="868680"/>
          </a:xfrm>
          <a:prstGeom prst="rect">
            <a:avLst/>
          </a:prstGeom>
          <a:noFill/>
          <a:ln/>
        </p:spPr>
        <p:txBody>
          <a:bodyPr wrap="square" lIns="0" tIns="0" rIns="0" bIns="0" rtlCol="0" anchor="t"/>
          <a:lstStyle/>
          <a:p>
            <a:pPr indent="0" marL="0">
              <a:buNone/>
            </a:pPr>
            <a:r>
              <a:rPr lang="en-US" sz="1200" dirty="0">
                <a:solidFill>
                  <a:schemeClr val="bg2"/>
                </a:solidFill>
              </a:rPr>
              <a:t>Saves every step: input, output, time and cost, plus a save point after each one.</a:t>
            </a:r>
            <a:endParaRPr lang="en-US" sz="1200" dirty="0"/>
          </a:p>
        </p:txBody>
      </p:sp>
      <p:sp>
        <p:nvSpPr>
          <p:cNvPr id="10" name="Solution arrow 1"/>
          <p:cNvSpPr/>
          <p:nvPr/>
        </p:nvSpPr>
        <p:spPr>
          <a:xfrm>
            <a:off x="2377440" y="2395728"/>
            <a:ext cx="182880" cy="0"/>
          </a:xfrm>
          <a:prstGeom prst="line">
            <a:avLst/>
          </a:prstGeom>
          <a:noFill/>
          <a:ln w="22225">
            <a:solidFill>
              <a:schemeClr val="bg2"/>
            </a:solidFill>
            <a:prstDash val="solid"/>
            <a:tailEnd type="triangle"/>
          </a:ln>
        </p:spPr>
      </p:sp>
      <p:sp>
        <p:nvSpPr>
          <p:cNvPr id="11" name="Solution card 2"/>
          <p:cNvSpPr/>
          <p:nvPr/>
        </p:nvSpPr>
        <p:spPr>
          <a:xfrm>
            <a:off x="2560320" y="1325880"/>
            <a:ext cx="1920240" cy="2148840"/>
          </a:xfrm>
          <a:prstGeom prst="roundRect">
            <a:avLst>
              <a:gd name="adj" fmla="val 5714"/>
            </a:avLst>
          </a:prstGeom>
          <a:solidFill>
            <a:schemeClr val="tx2"/>
          </a:solidFill>
          <a:ln/>
        </p:spPr>
      </p:sp>
      <p:sp>
        <p:nvSpPr>
          <p:cNvPr id="12" name="Solution icon circle 2"/>
          <p:cNvSpPr/>
          <p:nvPr/>
        </p:nvSpPr>
        <p:spPr>
          <a:xfrm>
            <a:off x="2761488" y="1508760"/>
            <a:ext cx="566928" cy="566928"/>
          </a:xfrm>
          <a:prstGeom prst="ellipse">
            <a:avLst/>
          </a:prstGeom>
          <a:solidFill>
            <a:schemeClr val="accent6"/>
          </a:solidFill>
          <a:ln/>
        </p:spPr>
      </p:sp>
      <p:pic>
        <p:nvPicPr>
          <p:cNvPr id="13" name="Solution icon 2" descr="preencoded.png">    </p:cNvPr>
          <p:cNvPicPr>
            <a:picLocks noChangeAspect="1"/>
          </p:cNvPicPr>
          <p:nvPr/>
        </p:nvPicPr>
        <p:blipFill>
          <a:blip r:embed="rId2"/>
          <a:stretch>
            <a:fillRect/>
          </a:stretch>
        </p:blipFill>
        <p:spPr>
          <a:xfrm>
            <a:off x="2898648" y="1645920"/>
            <a:ext cx="292608" cy="292608"/>
          </a:xfrm>
          <a:prstGeom prst="rect">
            <a:avLst/>
          </a:prstGeom>
        </p:spPr>
      </p:pic>
      <p:sp>
        <p:nvSpPr>
          <p:cNvPr id="14" name="Text 10"/>
          <p:cNvSpPr txBox="1"/>
          <p:nvPr/>
        </p:nvSpPr>
        <p:spPr>
          <a:xfrm>
            <a:off x="3749040" y="1554480"/>
            <a:ext cx="548640" cy="457200"/>
          </a:xfrm>
          <a:prstGeom prst="rect">
            <a:avLst/>
          </a:prstGeom>
          <a:noFill/>
          <a:ln/>
        </p:spPr>
        <p:txBody>
          <a:bodyPr wrap="square" lIns="0" tIns="0" rIns="0" bIns="0" rtlCol="0" anchor="ctr"/>
          <a:lstStyle/>
          <a:p>
            <a:pPr algn="r" indent="0" marL="0">
              <a:buNone/>
            </a:pPr>
            <a:r>
              <a:rPr lang="en-US" sz="2200" b="1" dirty="0">
                <a:solidFill>
                  <a:schemeClr val="bg2"/>
                </a:solidFill>
              </a:rPr>
              <a:t>02</a:t>
            </a:r>
            <a:endParaRPr lang="en-US" sz="2200" dirty="0"/>
          </a:p>
        </p:txBody>
      </p:sp>
      <p:sp>
        <p:nvSpPr>
          <p:cNvPr id="15" name="Text 11"/>
          <p:cNvSpPr txBox="1"/>
          <p:nvPr/>
        </p:nvSpPr>
        <p:spPr>
          <a:xfrm>
            <a:off x="2761488" y="2212848"/>
            <a:ext cx="1554480" cy="320040"/>
          </a:xfrm>
          <a:prstGeom prst="rect">
            <a:avLst/>
          </a:prstGeom>
          <a:noFill/>
          <a:ln/>
        </p:spPr>
        <p:txBody>
          <a:bodyPr wrap="square" lIns="0" tIns="0" rIns="0" bIns="0" rtlCol="0" anchor="ctr"/>
          <a:lstStyle/>
          <a:p>
            <a:pPr indent="0" marL="0">
              <a:buNone/>
            </a:pPr>
            <a:r>
              <a:rPr lang="en-US" sz="1700" b="1" dirty="0">
                <a:solidFill>
                  <a:schemeClr val="bg1"/>
                </a:solidFill>
              </a:rPr>
              <a:t>Diagnose</a:t>
            </a:r>
            <a:endParaRPr lang="en-US" sz="1700" dirty="0"/>
          </a:p>
        </p:txBody>
      </p:sp>
      <p:sp>
        <p:nvSpPr>
          <p:cNvPr id="16" name="Text 12"/>
          <p:cNvSpPr txBox="1"/>
          <p:nvPr/>
        </p:nvSpPr>
        <p:spPr>
          <a:xfrm>
            <a:off x="2761488" y="2560320"/>
            <a:ext cx="1572768" cy="868680"/>
          </a:xfrm>
          <a:prstGeom prst="rect">
            <a:avLst/>
          </a:prstGeom>
          <a:noFill/>
          <a:ln/>
        </p:spPr>
        <p:txBody>
          <a:bodyPr wrap="square" lIns="0" tIns="0" rIns="0" bIns="0" rtlCol="0" anchor="t"/>
          <a:lstStyle/>
          <a:p>
            <a:pPr indent="0" marL="0">
              <a:buNone/>
            </a:pPr>
            <a:r>
              <a:rPr lang="en-US" sz="1200" dirty="0">
                <a:solidFill>
                  <a:schemeClr val="bg2"/>
                </a:solidFill>
              </a:rPr>
              <a:t>Three trained models vote on which step caused the failure, in 27 ms.</a:t>
            </a:r>
            <a:endParaRPr lang="en-US" sz="1200" dirty="0"/>
          </a:p>
        </p:txBody>
      </p:sp>
      <p:sp>
        <p:nvSpPr>
          <p:cNvPr id="17" name="Solution arrow 2"/>
          <p:cNvSpPr/>
          <p:nvPr/>
        </p:nvSpPr>
        <p:spPr>
          <a:xfrm>
            <a:off x="4480560" y="2395728"/>
            <a:ext cx="182880" cy="0"/>
          </a:xfrm>
          <a:prstGeom prst="line">
            <a:avLst/>
          </a:prstGeom>
          <a:noFill/>
          <a:ln w="22225">
            <a:solidFill>
              <a:schemeClr val="bg2"/>
            </a:solidFill>
            <a:prstDash val="solid"/>
            <a:tailEnd type="triangle"/>
          </a:ln>
        </p:spPr>
      </p:sp>
      <p:sp>
        <p:nvSpPr>
          <p:cNvPr id="18" name="Solution card 3"/>
          <p:cNvSpPr/>
          <p:nvPr/>
        </p:nvSpPr>
        <p:spPr>
          <a:xfrm>
            <a:off x="4663440" y="1325880"/>
            <a:ext cx="1920240" cy="2148840"/>
          </a:xfrm>
          <a:prstGeom prst="roundRect">
            <a:avLst>
              <a:gd name="adj" fmla="val 5714"/>
            </a:avLst>
          </a:prstGeom>
          <a:solidFill>
            <a:schemeClr val="tx2"/>
          </a:solidFill>
          <a:ln/>
        </p:spPr>
      </p:sp>
      <p:sp>
        <p:nvSpPr>
          <p:cNvPr id="19" name="Solution icon circle 3"/>
          <p:cNvSpPr/>
          <p:nvPr/>
        </p:nvSpPr>
        <p:spPr>
          <a:xfrm>
            <a:off x="4864608" y="1508760"/>
            <a:ext cx="566928" cy="566928"/>
          </a:xfrm>
          <a:prstGeom prst="ellipse">
            <a:avLst/>
          </a:prstGeom>
          <a:solidFill>
            <a:schemeClr val="accent4"/>
          </a:solidFill>
          <a:ln/>
        </p:spPr>
      </p:sp>
      <p:pic>
        <p:nvPicPr>
          <p:cNvPr id="20" name="Solution icon 3" descr="preencoded.png">    </p:cNvPr>
          <p:cNvPicPr>
            <a:picLocks noChangeAspect="1"/>
          </p:cNvPicPr>
          <p:nvPr/>
        </p:nvPicPr>
        <p:blipFill>
          <a:blip r:embed="rId3"/>
          <a:stretch>
            <a:fillRect/>
          </a:stretch>
        </p:blipFill>
        <p:spPr>
          <a:xfrm>
            <a:off x="5001768" y="1645920"/>
            <a:ext cx="292608" cy="292608"/>
          </a:xfrm>
          <a:prstGeom prst="rect">
            <a:avLst/>
          </a:prstGeom>
        </p:spPr>
      </p:pic>
      <p:sp>
        <p:nvSpPr>
          <p:cNvPr id="21" name="Text 16"/>
          <p:cNvSpPr txBox="1"/>
          <p:nvPr/>
        </p:nvSpPr>
        <p:spPr>
          <a:xfrm>
            <a:off x="5852160" y="1554480"/>
            <a:ext cx="548640" cy="457200"/>
          </a:xfrm>
          <a:prstGeom prst="rect">
            <a:avLst/>
          </a:prstGeom>
          <a:noFill/>
          <a:ln/>
        </p:spPr>
        <p:txBody>
          <a:bodyPr wrap="square" lIns="0" tIns="0" rIns="0" bIns="0" rtlCol="0" anchor="ctr"/>
          <a:lstStyle/>
          <a:p>
            <a:pPr algn="r" indent="0" marL="0">
              <a:buNone/>
            </a:pPr>
            <a:r>
              <a:rPr lang="en-US" sz="2200" b="1" dirty="0">
                <a:solidFill>
                  <a:schemeClr val="bg2"/>
                </a:solidFill>
              </a:rPr>
              <a:t>03</a:t>
            </a:r>
            <a:endParaRPr lang="en-US" sz="2200" dirty="0"/>
          </a:p>
        </p:txBody>
      </p:sp>
      <p:sp>
        <p:nvSpPr>
          <p:cNvPr id="22" name="Text 17"/>
          <p:cNvSpPr txBox="1"/>
          <p:nvPr/>
        </p:nvSpPr>
        <p:spPr>
          <a:xfrm>
            <a:off x="4864608" y="2212848"/>
            <a:ext cx="1554480" cy="320040"/>
          </a:xfrm>
          <a:prstGeom prst="rect">
            <a:avLst/>
          </a:prstGeom>
          <a:noFill/>
          <a:ln/>
        </p:spPr>
        <p:txBody>
          <a:bodyPr wrap="square" lIns="0" tIns="0" rIns="0" bIns="0" rtlCol="0" anchor="ctr"/>
          <a:lstStyle/>
          <a:p>
            <a:pPr indent="0" marL="0">
              <a:buNone/>
            </a:pPr>
            <a:r>
              <a:rPr lang="en-US" sz="1700" b="1" dirty="0">
                <a:solidFill>
                  <a:schemeClr val="bg1"/>
                </a:solidFill>
              </a:rPr>
              <a:t>Explain</a:t>
            </a:r>
            <a:endParaRPr lang="en-US" sz="1700" dirty="0"/>
          </a:p>
        </p:txBody>
      </p:sp>
      <p:sp>
        <p:nvSpPr>
          <p:cNvPr id="23" name="Text 18"/>
          <p:cNvSpPr txBox="1"/>
          <p:nvPr/>
        </p:nvSpPr>
        <p:spPr>
          <a:xfrm>
            <a:off x="4864608" y="2560320"/>
            <a:ext cx="1572768" cy="868680"/>
          </a:xfrm>
          <a:prstGeom prst="rect">
            <a:avLst/>
          </a:prstGeom>
          <a:noFill/>
          <a:ln/>
        </p:spPr>
        <p:txBody>
          <a:bodyPr wrap="square" lIns="0" tIns="0" rIns="0" bIns="0" rtlCol="0" anchor="t"/>
          <a:lstStyle/>
          <a:p>
            <a:pPr indent="0" marL="0">
              <a:buNone/>
            </a:pPr>
            <a:r>
              <a:rPr lang="en-US" sz="1200" dirty="0">
                <a:solidFill>
                  <a:schemeClr val="bg2"/>
                </a:solidFill>
              </a:rPr>
              <a:t>Plain-English reasons, the path the bad data took, and how it differs from a good run.</a:t>
            </a:r>
            <a:endParaRPr lang="en-US" sz="1200" dirty="0"/>
          </a:p>
        </p:txBody>
      </p:sp>
      <p:sp>
        <p:nvSpPr>
          <p:cNvPr id="24" name="Solution arrow 3"/>
          <p:cNvSpPr/>
          <p:nvPr/>
        </p:nvSpPr>
        <p:spPr>
          <a:xfrm>
            <a:off x="6583680" y="2395728"/>
            <a:ext cx="182880" cy="0"/>
          </a:xfrm>
          <a:prstGeom prst="line">
            <a:avLst/>
          </a:prstGeom>
          <a:noFill/>
          <a:ln w="22225">
            <a:solidFill>
              <a:schemeClr val="bg2"/>
            </a:solidFill>
            <a:prstDash val="solid"/>
            <a:tailEnd type="triangle"/>
          </a:ln>
        </p:spPr>
      </p:sp>
      <p:sp>
        <p:nvSpPr>
          <p:cNvPr id="25" name="Solution card 4"/>
          <p:cNvSpPr/>
          <p:nvPr/>
        </p:nvSpPr>
        <p:spPr>
          <a:xfrm>
            <a:off x="6766560" y="1325880"/>
            <a:ext cx="1920240" cy="2148840"/>
          </a:xfrm>
          <a:prstGeom prst="roundRect">
            <a:avLst>
              <a:gd name="adj" fmla="val 5714"/>
            </a:avLst>
          </a:prstGeom>
          <a:solidFill>
            <a:schemeClr val="tx2"/>
          </a:solidFill>
          <a:ln/>
        </p:spPr>
      </p:sp>
      <p:sp>
        <p:nvSpPr>
          <p:cNvPr id="26" name="Solution icon circle 4"/>
          <p:cNvSpPr/>
          <p:nvPr/>
        </p:nvSpPr>
        <p:spPr>
          <a:xfrm>
            <a:off x="6967728" y="1508760"/>
            <a:ext cx="566928" cy="566928"/>
          </a:xfrm>
          <a:prstGeom prst="ellipse">
            <a:avLst/>
          </a:prstGeom>
          <a:solidFill>
            <a:schemeClr val="accent2"/>
          </a:solidFill>
          <a:ln/>
        </p:spPr>
      </p:sp>
      <p:pic>
        <p:nvPicPr>
          <p:cNvPr id="27" name="Solution icon 4" descr="preencoded.png">    </p:cNvPr>
          <p:cNvPicPr>
            <a:picLocks noChangeAspect="1"/>
          </p:cNvPicPr>
          <p:nvPr/>
        </p:nvPicPr>
        <p:blipFill>
          <a:blip r:embed="rId4"/>
          <a:stretch>
            <a:fillRect/>
          </a:stretch>
        </p:blipFill>
        <p:spPr>
          <a:xfrm>
            <a:off x="7104888" y="1645920"/>
            <a:ext cx="292608" cy="292608"/>
          </a:xfrm>
          <a:prstGeom prst="rect">
            <a:avLst/>
          </a:prstGeom>
        </p:spPr>
      </p:pic>
      <p:sp>
        <p:nvSpPr>
          <p:cNvPr id="28" name="Text 22"/>
          <p:cNvSpPr txBox="1"/>
          <p:nvPr/>
        </p:nvSpPr>
        <p:spPr>
          <a:xfrm>
            <a:off x="7955280" y="1554480"/>
            <a:ext cx="548640" cy="457200"/>
          </a:xfrm>
          <a:prstGeom prst="rect">
            <a:avLst/>
          </a:prstGeom>
          <a:noFill/>
          <a:ln/>
        </p:spPr>
        <p:txBody>
          <a:bodyPr wrap="square" lIns="0" tIns="0" rIns="0" bIns="0" rtlCol="0" anchor="ctr"/>
          <a:lstStyle/>
          <a:p>
            <a:pPr algn="r" indent="0" marL="0">
              <a:buNone/>
            </a:pPr>
            <a:r>
              <a:rPr lang="en-US" sz="2200" b="1" dirty="0">
                <a:solidFill>
                  <a:schemeClr val="bg2"/>
                </a:solidFill>
              </a:rPr>
              <a:t>04</a:t>
            </a:r>
            <a:endParaRPr lang="en-US" sz="2200" dirty="0"/>
          </a:p>
        </p:txBody>
      </p:sp>
      <p:sp>
        <p:nvSpPr>
          <p:cNvPr id="29" name="Text 23"/>
          <p:cNvSpPr txBox="1"/>
          <p:nvPr/>
        </p:nvSpPr>
        <p:spPr>
          <a:xfrm>
            <a:off x="6967728" y="2212848"/>
            <a:ext cx="1554480" cy="320040"/>
          </a:xfrm>
          <a:prstGeom prst="rect">
            <a:avLst/>
          </a:prstGeom>
          <a:noFill/>
          <a:ln/>
        </p:spPr>
        <p:txBody>
          <a:bodyPr wrap="square" lIns="0" tIns="0" rIns="0" bIns="0" rtlCol="0" anchor="ctr"/>
          <a:lstStyle/>
          <a:p>
            <a:pPr indent="0" marL="0">
              <a:buNone/>
            </a:pPr>
            <a:r>
              <a:rPr lang="en-US" sz="1700" b="1" dirty="0">
                <a:solidFill>
                  <a:schemeClr val="bg1"/>
                </a:solidFill>
              </a:rPr>
              <a:t>Prove</a:t>
            </a:r>
            <a:endParaRPr lang="en-US" sz="1700" dirty="0"/>
          </a:p>
        </p:txBody>
      </p:sp>
      <p:sp>
        <p:nvSpPr>
          <p:cNvPr id="30" name="Text 24"/>
          <p:cNvSpPr txBox="1"/>
          <p:nvPr/>
        </p:nvSpPr>
        <p:spPr>
          <a:xfrm>
            <a:off x="6967728" y="2560320"/>
            <a:ext cx="1572768" cy="868680"/>
          </a:xfrm>
          <a:prstGeom prst="rect">
            <a:avLst/>
          </a:prstGeom>
          <a:noFill/>
          <a:ln/>
        </p:spPr>
        <p:txBody>
          <a:bodyPr wrap="square" lIns="0" tIns="0" rIns="0" bIns="0" rtlCol="0" anchor="t"/>
          <a:lstStyle/>
          <a:p>
            <a:pPr indent="0" marL="0">
              <a:buNone/>
            </a:pPr>
            <a:r>
              <a:rPr lang="en-US" sz="1200" dirty="0">
                <a:solidFill>
                  <a:schemeClr val="bg2"/>
                </a:solidFill>
              </a:rPr>
              <a:t>Re-runs from that step with a fix. Only later steps re-run. 3 of 3 pass = confirmed.</a:t>
            </a:r>
            <a:endParaRPr lang="en-US" sz="1200" dirty="0"/>
          </a:p>
        </p:txBody>
      </p:sp>
      <p:sp>
        <p:nvSpPr>
          <p:cNvPr id="31" name="Example diagnosis card"/>
          <p:cNvSpPr/>
          <p:nvPr/>
        </p:nvSpPr>
        <p:spPr>
          <a:xfrm>
            <a:off x="457200" y="3657600"/>
            <a:ext cx="8229600" cy="960120"/>
          </a:xfrm>
          <a:prstGeom prst="roundRect">
            <a:avLst>
              <a:gd name="adj" fmla="val 11429"/>
            </a:avLst>
          </a:prstGeom>
          <a:solidFill>
            <a:schemeClr val="tx2"/>
          </a:solidFill>
          <a:ln/>
        </p:spPr>
      </p:sp>
      <p:sp>
        <p:nvSpPr>
          <p:cNvPr id="32" name="Text 26"/>
          <p:cNvSpPr txBox="1"/>
          <p:nvPr/>
        </p:nvSpPr>
        <p:spPr>
          <a:xfrm>
            <a:off x="685800" y="3767328"/>
            <a:ext cx="1097280" cy="228600"/>
          </a:xfrm>
          <a:prstGeom prst="rect">
            <a:avLst/>
          </a:prstGeom>
          <a:noFill/>
          <a:ln/>
        </p:spPr>
        <p:txBody>
          <a:bodyPr wrap="square" lIns="0" tIns="0" rIns="0" bIns="0" rtlCol="0" anchor="ctr"/>
          <a:lstStyle/>
          <a:p>
            <a:pPr indent="0" marL="0">
              <a:buNone/>
            </a:pPr>
            <a:r>
              <a:rPr lang="en-US" sz="900" b="1" spc="200" kern="0" dirty="0">
                <a:solidFill>
                  <a:schemeClr val="accent1"/>
                </a:solidFill>
              </a:rPr>
              <a:t>EXAMPLE</a:t>
            </a:r>
            <a:endParaRPr lang="en-US" sz="900" dirty="0"/>
          </a:p>
        </p:txBody>
      </p:sp>
      <p:sp>
        <p:nvSpPr>
          <p:cNvPr id="33" name="Text 27"/>
          <p:cNvSpPr txBox="1"/>
          <p:nvPr/>
        </p:nvSpPr>
        <p:spPr>
          <a:xfrm>
            <a:off x="685800" y="4005072"/>
            <a:ext cx="7772400" cy="502920"/>
          </a:xfrm>
          <a:prstGeom prst="rect">
            <a:avLst/>
          </a:prstGeom>
          <a:noFill/>
          <a:ln/>
        </p:spPr>
        <p:txBody>
          <a:bodyPr wrap="square" lIns="0" tIns="0" rIns="0" bIns="0" rtlCol="0" anchor="ctr"/>
          <a:lstStyle/>
          <a:p>
            <a:pPr indent="0" marL="0">
              <a:buNone/>
            </a:pPr>
            <a:r>
              <a:rPr lang="en-US" sz="1400" dirty="0">
                <a:solidFill>
                  <a:schemeClr val="bg1"/>
                </a:solidFill>
              </a:rPr>
              <a:t>Wrong refund window (45 days, should be 30)  →  </a:t>
            </a:r>
            <a:pPr indent="0" marL="0">
              <a:buNone/>
            </a:pPr>
            <a:r>
              <a:rPr lang="en-US" sz="1400" b="1" dirty="0">
                <a:solidFill>
                  <a:schemeClr val="accent1"/>
                </a:solidFill>
              </a:rPr>
              <a:t>Step 4 · Search</a:t>
            </a:r>
            <a:pPr indent="0" marL="0">
              <a:buNone/>
            </a:pPr>
            <a:r>
              <a:rPr lang="en-US" sz="1400" dirty="0">
                <a:solidFill>
                  <a:schemeClr val="bg1"/>
                </a:solidFill>
              </a:rPr>
              <a:t> ranked an outdated policy first  →  replay with the current policy: </a:t>
            </a:r>
            <a:pPr indent="0" marL="0">
              <a:buNone/>
            </a:pPr>
            <a:r>
              <a:rPr lang="en-US" sz="1400" b="1" dirty="0">
                <a:solidFill>
                  <a:schemeClr val="accent2"/>
                </a:solidFill>
              </a:rPr>
              <a:t>3/3 passed</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How it's built</a:t>
            </a: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lIns="0" tIns="0" rIns="0" bIns="0" rtlCol="0" anchor="t"/>
          <a:lstStyle/>
          <a:p>
            <a:pPr indent="0" marL="0">
              <a:buNone/>
            </a:pPr>
            <a:r>
              <a:rPr lang="en-US" sz="1400" dirty="0">
                <a:solidFill>
                  <a:schemeClr val="bg2"/>
                </a:solidFill>
              </a:rPr>
              <a:t>A live path that diagnoses runs, and a training path that teaches the models</a:t>
            </a:r>
            <a:endParaRPr lang="en-US" sz="1400" dirty="0"/>
          </a:p>
        </p:txBody>
      </p:sp>
      <p:sp>
        <p:nvSpPr>
          <p:cNvPr id="4" name="Text 2"/>
          <p:cNvSpPr txBox="1"/>
          <p:nvPr/>
        </p:nvSpPr>
        <p:spPr>
          <a:xfrm>
            <a:off x="457200" y="1234440"/>
            <a:ext cx="1828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LIVE PATH</a:t>
            </a:r>
            <a:endParaRPr lang="en-US" sz="1000" dirty="0"/>
          </a:p>
        </p:txBody>
      </p:sp>
      <p:sp>
        <p:nvSpPr>
          <p:cNvPr id="5" name="Live box 1"/>
          <p:cNvSpPr/>
          <p:nvPr/>
        </p:nvSpPr>
        <p:spPr>
          <a:xfrm>
            <a:off x="457200" y="1508760"/>
            <a:ext cx="1216152" cy="960120"/>
          </a:xfrm>
          <a:prstGeom prst="roundRect">
            <a:avLst>
              <a:gd name="adj" fmla="val 11429"/>
            </a:avLst>
          </a:prstGeom>
          <a:solidFill>
            <a:schemeClr val="tx2"/>
          </a:solidFill>
          <a:ln/>
        </p:spPr>
      </p:sp>
      <p:sp>
        <p:nvSpPr>
          <p:cNvPr id="6" name="Text 4"/>
          <p:cNvSpPr txBox="1"/>
          <p:nvPr/>
        </p:nvSpPr>
        <p:spPr>
          <a:xfrm>
            <a:off x="548640" y="1600200"/>
            <a:ext cx="1033272" cy="365760"/>
          </a:xfrm>
          <a:prstGeom prst="rect">
            <a:avLst/>
          </a:prstGeom>
          <a:noFill/>
          <a:ln/>
        </p:spPr>
        <p:txBody>
          <a:bodyPr wrap="square" lIns="0" tIns="0" rIns="0" bIns="0" rtlCol="0" anchor="ctr"/>
          <a:lstStyle/>
          <a:p>
            <a:pPr algn="ctr" indent="0" marL="0">
              <a:buNone/>
            </a:pPr>
            <a:r>
              <a:rPr lang="en-US" sz="1300" b="1" dirty="0">
                <a:solidFill>
                  <a:schemeClr val="bg1"/>
                </a:solidFill>
              </a:rPr>
              <a:t>AI Agent</a:t>
            </a:r>
            <a:endParaRPr lang="en-US" sz="1300" dirty="0"/>
          </a:p>
        </p:txBody>
      </p:sp>
      <p:sp>
        <p:nvSpPr>
          <p:cNvPr id="7" name="Text 5"/>
          <p:cNvSpPr txBox="1"/>
          <p:nvPr/>
        </p:nvSpPr>
        <p:spPr>
          <a:xfrm>
            <a:off x="548640" y="1965960"/>
            <a:ext cx="1033272" cy="411480"/>
          </a:xfrm>
          <a:prstGeom prst="rect">
            <a:avLst/>
          </a:prstGeom>
          <a:noFill/>
          <a:ln/>
        </p:spPr>
        <p:txBody>
          <a:bodyPr wrap="square" lIns="0" tIns="0" rIns="0" bIns="0" rtlCol="0" anchor="t"/>
          <a:lstStyle/>
          <a:p>
            <a:pPr algn="ctr" indent="0" marL="0">
              <a:buNone/>
            </a:pPr>
            <a:r>
              <a:rPr lang="en-US" sz="1000" dirty="0">
                <a:solidFill>
                  <a:schemeClr val="bg2"/>
                </a:solidFill>
              </a:rPr>
              <a:t>10 steps on</a:t>
            </a:r>
            <a:endParaRPr lang="en-US" sz="1000" dirty="0"/>
          </a:p>
          <a:p>
            <a:pPr algn="ctr" indent="0" marL="0">
              <a:buNone/>
            </a:pPr>
            <a:r>
              <a:rPr lang="en-US" sz="1000" dirty="0">
                <a:solidFill>
                  <a:schemeClr val="bg2"/>
                </a:solidFill>
              </a:rPr>
              <a:t>GPT‑6 Luna</a:t>
            </a:r>
            <a:endParaRPr lang="en-US" sz="1000" dirty="0"/>
          </a:p>
        </p:txBody>
      </p:sp>
      <p:sp>
        <p:nvSpPr>
          <p:cNvPr id="8" name="Live arrow 1"/>
          <p:cNvSpPr/>
          <p:nvPr/>
        </p:nvSpPr>
        <p:spPr>
          <a:xfrm>
            <a:off x="1691640" y="1984248"/>
            <a:ext cx="149962" cy="0"/>
          </a:xfrm>
          <a:prstGeom prst="line">
            <a:avLst/>
          </a:prstGeom>
          <a:noFill/>
          <a:ln w="22225">
            <a:solidFill>
              <a:schemeClr val="bg2"/>
            </a:solidFill>
            <a:prstDash val="solid"/>
            <a:tailEnd type="triangle"/>
          </a:ln>
        </p:spPr>
      </p:sp>
      <p:sp>
        <p:nvSpPr>
          <p:cNvPr id="9" name="Live box 2"/>
          <p:cNvSpPr/>
          <p:nvPr/>
        </p:nvSpPr>
        <p:spPr>
          <a:xfrm>
            <a:off x="1859890" y="1508760"/>
            <a:ext cx="1216152" cy="960120"/>
          </a:xfrm>
          <a:prstGeom prst="roundRect">
            <a:avLst>
              <a:gd name="adj" fmla="val 11429"/>
            </a:avLst>
          </a:prstGeom>
          <a:solidFill>
            <a:schemeClr val="tx2"/>
          </a:solidFill>
          <a:ln/>
        </p:spPr>
      </p:sp>
      <p:sp>
        <p:nvSpPr>
          <p:cNvPr id="10" name="Text 8"/>
          <p:cNvSpPr txBox="1"/>
          <p:nvPr/>
        </p:nvSpPr>
        <p:spPr>
          <a:xfrm>
            <a:off x="1951330" y="1600200"/>
            <a:ext cx="1033272" cy="365760"/>
          </a:xfrm>
          <a:prstGeom prst="rect">
            <a:avLst/>
          </a:prstGeom>
          <a:noFill/>
          <a:ln/>
        </p:spPr>
        <p:txBody>
          <a:bodyPr wrap="square" lIns="0" tIns="0" rIns="0" bIns="0" rtlCol="0" anchor="ctr"/>
          <a:lstStyle/>
          <a:p>
            <a:pPr algn="ctr" indent="0" marL="0">
              <a:buNone/>
            </a:pPr>
            <a:r>
              <a:rPr lang="en-US" sz="1300" b="1" dirty="0">
                <a:solidFill>
                  <a:schemeClr val="bg1"/>
                </a:solidFill>
              </a:rPr>
              <a:t>Recorder</a:t>
            </a:r>
            <a:endParaRPr lang="en-US" sz="1300" dirty="0"/>
          </a:p>
        </p:txBody>
      </p:sp>
      <p:sp>
        <p:nvSpPr>
          <p:cNvPr id="11" name="Text 9"/>
          <p:cNvSpPr txBox="1"/>
          <p:nvPr/>
        </p:nvSpPr>
        <p:spPr>
          <a:xfrm>
            <a:off x="1951330" y="1965960"/>
            <a:ext cx="1033272" cy="411480"/>
          </a:xfrm>
          <a:prstGeom prst="rect">
            <a:avLst/>
          </a:prstGeom>
          <a:noFill/>
          <a:ln/>
        </p:spPr>
        <p:txBody>
          <a:bodyPr wrap="square" lIns="0" tIns="0" rIns="0" bIns="0" rtlCol="0" anchor="t"/>
          <a:lstStyle/>
          <a:p>
            <a:pPr algn="ctr" indent="0" marL="0">
              <a:buNone/>
            </a:pPr>
            <a:r>
              <a:rPr lang="en-US" sz="1000" dirty="0">
                <a:solidFill>
                  <a:schemeClr val="bg2"/>
                </a:solidFill>
              </a:rPr>
              <a:t>every step + save points</a:t>
            </a:r>
            <a:endParaRPr lang="en-US" sz="1000" dirty="0"/>
          </a:p>
        </p:txBody>
      </p:sp>
      <p:sp>
        <p:nvSpPr>
          <p:cNvPr id="12" name="Live arrow 2"/>
          <p:cNvSpPr/>
          <p:nvPr/>
        </p:nvSpPr>
        <p:spPr>
          <a:xfrm>
            <a:off x="3094330" y="1984248"/>
            <a:ext cx="149962" cy="0"/>
          </a:xfrm>
          <a:prstGeom prst="line">
            <a:avLst/>
          </a:prstGeom>
          <a:noFill/>
          <a:ln w="22225">
            <a:solidFill>
              <a:schemeClr val="bg2"/>
            </a:solidFill>
            <a:prstDash val="solid"/>
            <a:tailEnd type="triangle"/>
          </a:ln>
        </p:spPr>
      </p:sp>
      <p:sp>
        <p:nvSpPr>
          <p:cNvPr id="13" name="Live box 3"/>
          <p:cNvSpPr/>
          <p:nvPr/>
        </p:nvSpPr>
        <p:spPr>
          <a:xfrm>
            <a:off x="3262579" y="1508760"/>
            <a:ext cx="1216152" cy="960120"/>
          </a:xfrm>
          <a:prstGeom prst="roundRect">
            <a:avLst>
              <a:gd name="adj" fmla="val 11429"/>
            </a:avLst>
          </a:prstGeom>
          <a:solidFill>
            <a:schemeClr val="accent1"/>
          </a:solidFill>
          <a:ln/>
        </p:spPr>
      </p:sp>
      <p:sp>
        <p:nvSpPr>
          <p:cNvPr id="14" name="Text 12"/>
          <p:cNvSpPr txBox="1"/>
          <p:nvPr/>
        </p:nvSpPr>
        <p:spPr>
          <a:xfrm>
            <a:off x="3354019" y="1600200"/>
            <a:ext cx="1033272" cy="365760"/>
          </a:xfrm>
          <a:prstGeom prst="rect">
            <a:avLst/>
          </a:prstGeom>
          <a:noFill/>
          <a:ln/>
        </p:spPr>
        <p:txBody>
          <a:bodyPr wrap="square" lIns="0" tIns="0" rIns="0" bIns="0" rtlCol="0" anchor="ctr"/>
          <a:lstStyle/>
          <a:p>
            <a:pPr algn="ctr" indent="0" marL="0">
              <a:buNone/>
            </a:pPr>
            <a:r>
              <a:rPr lang="en-US" sz="1300" b="1" dirty="0">
                <a:solidFill>
                  <a:schemeClr val="tx1"/>
                </a:solidFill>
              </a:rPr>
              <a:t>Diagnosis</a:t>
            </a:r>
            <a:endParaRPr lang="en-US" sz="1300" dirty="0"/>
          </a:p>
        </p:txBody>
      </p:sp>
      <p:sp>
        <p:nvSpPr>
          <p:cNvPr id="15" name="Text 13"/>
          <p:cNvSpPr txBox="1"/>
          <p:nvPr/>
        </p:nvSpPr>
        <p:spPr>
          <a:xfrm>
            <a:off x="3354019" y="1965960"/>
            <a:ext cx="1033272" cy="411480"/>
          </a:xfrm>
          <a:prstGeom prst="rect">
            <a:avLst/>
          </a:prstGeom>
          <a:noFill/>
          <a:ln/>
        </p:spPr>
        <p:txBody>
          <a:bodyPr wrap="square" lIns="0" tIns="0" rIns="0" bIns="0" rtlCol="0" anchor="t"/>
          <a:lstStyle/>
          <a:p>
            <a:pPr algn="ctr" indent="0" marL="0">
              <a:buNone/>
            </a:pPr>
            <a:r>
              <a:rPr lang="en-US" sz="1000" dirty="0">
                <a:solidFill>
                  <a:schemeClr val="tx1"/>
                </a:solidFill>
              </a:rPr>
              <a:t>3-model vote</a:t>
            </a:r>
            <a:endParaRPr lang="en-US" sz="1000" dirty="0"/>
          </a:p>
        </p:txBody>
      </p:sp>
      <p:sp>
        <p:nvSpPr>
          <p:cNvPr id="16" name="Live arrow 3"/>
          <p:cNvSpPr/>
          <p:nvPr/>
        </p:nvSpPr>
        <p:spPr>
          <a:xfrm>
            <a:off x="4497019" y="1984248"/>
            <a:ext cx="149962" cy="0"/>
          </a:xfrm>
          <a:prstGeom prst="line">
            <a:avLst/>
          </a:prstGeom>
          <a:noFill/>
          <a:ln w="22225">
            <a:solidFill>
              <a:schemeClr val="bg2"/>
            </a:solidFill>
            <a:prstDash val="solid"/>
            <a:tailEnd type="triangle"/>
          </a:ln>
        </p:spPr>
      </p:sp>
      <p:sp>
        <p:nvSpPr>
          <p:cNvPr id="17" name="Live box 4"/>
          <p:cNvSpPr/>
          <p:nvPr/>
        </p:nvSpPr>
        <p:spPr>
          <a:xfrm>
            <a:off x="4665269" y="1508760"/>
            <a:ext cx="1216152" cy="960120"/>
          </a:xfrm>
          <a:prstGeom prst="roundRect">
            <a:avLst>
              <a:gd name="adj" fmla="val 11429"/>
            </a:avLst>
          </a:prstGeom>
          <a:solidFill>
            <a:schemeClr val="tx2"/>
          </a:solidFill>
          <a:ln/>
        </p:spPr>
      </p:sp>
      <p:sp>
        <p:nvSpPr>
          <p:cNvPr id="18" name="Text 16"/>
          <p:cNvSpPr txBox="1"/>
          <p:nvPr/>
        </p:nvSpPr>
        <p:spPr>
          <a:xfrm>
            <a:off x="4756709" y="1600200"/>
            <a:ext cx="1033272" cy="365760"/>
          </a:xfrm>
          <a:prstGeom prst="rect">
            <a:avLst/>
          </a:prstGeom>
          <a:noFill/>
          <a:ln/>
        </p:spPr>
        <p:txBody>
          <a:bodyPr wrap="square" lIns="0" tIns="0" rIns="0" bIns="0" rtlCol="0" anchor="ctr"/>
          <a:lstStyle/>
          <a:p>
            <a:pPr algn="ctr" indent="0" marL="0">
              <a:buNone/>
            </a:pPr>
            <a:r>
              <a:rPr lang="en-US" sz="1300" b="1" dirty="0">
                <a:solidFill>
                  <a:schemeClr val="bg1"/>
                </a:solidFill>
              </a:rPr>
              <a:t>Explainer</a:t>
            </a:r>
            <a:endParaRPr lang="en-US" sz="1300" dirty="0"/>
          </a:p>
        </p:txBody>
      </p:sp>
      <p:sp>
        <p:nvSpPr>
          <p:cNvPr id="19" name="Text 17"/>
          <p:cNvSpPr txBox="1"/>
          <p:nvPr/>
        </p:nvSpPr>
        <p:spPr>
          <a:xfrm>
            <a:off x="4756709" y="1965960"/>
            <a:ext cx="1033272" cy="411480"/>
          </a:xfrm>
          <a:prstGeom prst="rect">
            <a:avLst/>
          </a:prstGeom>
          <a:noFill/>
          <a:ln/>
        </p:spPr>
        <p:txBody>
          <a:bodyPr wrap="square" lIns="0" tIns="0" rIns="0" bIns="0" rtlCol="0" anchor="t"/>
          <a:lstStyle/>
          <a:p>
            <a:pPr algn="ctr" indent="0" marL="0">
              <a:buNone/>
            </a:pPr>
            <a:r>
              <a:rPr lang="en-US" sz="1000" dirty="0">
                <a:solidFill>
                  <a:schemeClr val="bg2"/>
                </a:solidFill>
              </a:rPr>
              <a:t>reasons in plain words</a:t>
            </a:r>
            <a:endParaRPr lang="en-US" sz="1000" dirty="0"/>
          </a:p>
        </p:txBody>
      </p:sp>
      <p:sp>
        <p:nvSpPr>
          <p:cNvPr id="20" name="Live arrow 4"/>
          <p:cNvSpPr/>
          <p:nvPr/>
        </p:nvSpPr>
        <p:spPr>
          <a:xfrm>
            <a:off x="5899709" y="1984248"/>
            <a:ext cx="149962" cy="0"/>
          </a:xfrm>
          <a:prstGeom prst="line">
            <a:avLst/>
          </a:prstGeom>
          <a:noFill/>
          <a:ln w="22225">
            <a:solidFill>
              <a:schemeClr val="bg2"/>
            </a:solidFill>
            <a:prstDash val="solid"/>
            <a:tailEnd type="triangle"/>
          </a:ln>
        </p:spPr>
      </p:sp>
      <p:sp>
        <p:nvSpPr>
          <p:cNvPr id="21" name="Live box 5"/>
          <p:cNvSpPr/>
          <p:nvPr/>
        </p:nvSpPr>
        <p:spPr>
          <a:xfrm>
            <a:off x="6067958" y="1508760"/>
            <a:ext cx="1216152" cy="960120"/>
          </a:xfrm>
          <a:prstGeom prst="roundRect">
            <a:avLst>
              <a:gd name="adj" fmla="val 11429"/>
            </a:avLst>
          </a:prstGeom>
          <a:solidFill>
            <a:schemeClr val="tx2"/>
          </a:solidFill>
          <a:ln/>
        </p:spPr>
      </p:sp>
      <p:sp>
        <p:nvSpPr>
          <p:cNvPr id="22" name="Text 20"/>
          <p:cNvSpPr txBox="1"/>
          <p:nvPr/>
        </p:nvSpPr>
        <p:spPr>
          <a:xfrm>
            <a:off x="6159398" y="1600200"/>
            <a:ext cx="1033272" cy="365760"/>
          </a:xfrm>
          <a:prstGeom prst="rect">
            <a:avLst/>
          </a:prstGeom>
          <a:noFill/>
          <a:ln/>
        </p:spPr>
        <p:txBody>
          <a:bodyPr wrap="square" lIns="0" tIns="0" rIns="0" bIns="0" rtlCol="0" anchor="ctr"/>
          <a:lstStyle/>
          <a:p>
            <a:pPr algn="ctr" indent="0" marL="0">
              <a:buNone/>
            </a:pPr>
            <a:r>
              <a:rPr lang="en-US" sz="1300" b="1" dirty="0">
                <a:solidFill>
                  <a:schemeClr val="bg1"/>
                </a:solidFill>
              </a:rPr>
              <a:t>Replay &amp; Fix</a:t>
            </a:r>
            <a:endParaRPr lang="en-US" sz="1300" dirty="0"/>
          </a:p>
        </p:txBody>
      </p:sp>
      <p:sp>
        <p:nvSpPr>
          <p:cNvPr id="23" name="Text 21"/>
          <p:cNvSpPr txBox="1"/>
          <p:nvPr/>
        </p:nvSpPr>
        <p:spPr>
          <a:xfrm>
            <a:off x="6159398" y="1965960"/>
            <a:ext cx="1033272" cy="411480"/>
          </a:xfrm>
          <a:prstGeom prst="rect">
            <a:avLst/>
          </a:prstGeom>
          <a:noFill/>
          <a:ln/>
        </p:spPr>
        <p:txBody>
          <a:bodyPr wrap="square" lIns="0" tIns="0" rIns="0" bIns="0" rtlCol="0" anchor="t"/>
          <a:lstStyle/>
          <a:p>
            <a:pPr algn="ctr" indent="0" marL="0">
              <a:buNone/>
            </a:pPr>
            <a:r>
              <a:rPr lang="en-US" sz="1000" dirty="0">
                <a:solidFill>
                  <a:schemeClr val="bg2"/>
                </a:solidFill>
              </a:rPr>
              <a:t>re-run only what changed</a:t>
            </a:r>
            <a:endParaRPr lang="en-US" sz="1000" dirty="0"/>
          </a:p>
        </p:txBody>
      </p:sp>
      <p:sp>
        <p:nvSpPr>
          <p:cNvPr id="24" name="Live arrow 5"/>
          <p:cNvSpPr/>
          <p:nvPr/>
        </p:nvSpPr>
        <p:spPr>
          <a:xfrm>
            <a:off x="7302398" y="1984248"/>
            <a:ext cx="149962" cy="0"/>
          </a:xfrm>
          <a:prstGeom prst="line">
            <a:avLst/>
          </a:prstGeom>
          <a:noFill/>
          <a:ln w="22225">
            <a:solidFill>
              <a:schemeClr val="bg2"/>
            </a:solidFill>
            <a:prstDash val="solid"/>
            <a:tailEnd type="triangle"/>
          </a:ln>
        </p:spPr>
      </p:sp>
      <p:sp>
        <p:nvSpPr>
          <p:cNvPr id="25" name="Live box 6"/>
          <p:cNvSpPr/>
          <p:nvPr/>
        </p:nvSpPr>
        <p:spPr>
          <a:xfrm>
            <a:off x="7470648" y="1508760"/>
            <a:ext cx="1216152" cy="960120"/>
          </a:xfrm>
          <a:prstGeom prst="roundRect">
            <a:avLst>
              <a:gd name="adj" fmla="val 11429"/>
            </a:avLst>
          </a:prstGeom>
          <a:solidFill>
            <a:schemeClr val="tx2"/>
          </a:solidFill>
          <a:ln/>
        </p:spPr>
      </p:sp>
      <p:sp>
        <p:nvSpPr>
          <p:cNvPr id="26" name="Text 24"/>
          <p:cNvSpPr txBox="1"/>
          <p:nvPr/>
        </p:nvSpPr>
        <p:spPr>
          <a:xfrm>
            <a:off x="7562088" y="1600200"/>
            <a:ext cx="1033272" cy="365760"/>
          </a:xfrm>
          <a:prstGeom prst="rect">
            <a:avLst/>
          </a:prstGeom>
          <a:noFill/>
          <a:ln/>
        </p:spPr>
        <p:txBody>
          <a:bodyPr wrap="square" lIns="0" tIns="0" rIns="0" bIns="0" rtlCol="0" anchor="ctr"/>
          <a:lstStyle/>
          <a:p>
            <a:pPr algn="ctr" indent="0" marL="0">
              <a:buNone/>
            </a:pPr>
            <a:r>
              <a:rPr lang="en-US" sz="1300" b="1" dirty="0">
                <a:solidFill>
                  <a:schemeClr val="bg1"/>
                </a:solidFill>
              </a:rPr>
              <a:t>Dashboard</a:t>
            </a:r>
            <a:endParaRPr lang="en-US" sz="1300" dirty="0"/>
          </a:p>
        </p:txBody>
      </p:sp>
      <p:sp>
        <p:nvSpPr>
          <p:cNvPr id="27" name="Text 25"/>
          <p:cNvSpPr txBox="1"/>
          <p:nvPr/>
        </p:nvSpPr>
        <p:spPr>
          <a:xfrm>
            <a:off x="7562088" y="1965960"/>
            <a:ext cx="1033272" cy="411480"/>
          </a:xfrm>
          <a:prstGeom prst="rect">
            <a:avLst/>
          </a:prstGeom>
          <a:noFill/>
          <a:ln/>
        </p:spPr>
        <p:txBody>
          <a:bodyPr wrap="square" lIns="0" tIns="0" rIns="0" bIns="0" rtlCol="0" anchor="t"/>
          <a:lstStyle/>
          <a:p>
            <a:pPr algn="ctr" indent="0" marL="0">
              <a:buNone/>
            </a:pPr>
            <a:r>
              <a:rPr lang="en-US" sz="1000" dirty="0">
                <a:solidFill>
                  <a:schemeClr val="bg2"/>
                </a:solidFill>
              </a:rPr>
              <a:t>7 screens + API</a:t>
            </a:r>
            <a:endParaRPr lang="en-US" sz="1000" dirty="0"/>
          </a:p>
        </p:txBody>
      </p:sp>
      <p:sp>
        <p:nvSpPr>
          <p:cNvPr id="28" name="Diagnosis connector"/>
          <p:cNvSpPr/>
          <p:nvPr/>
        </p:nvSpPr>
        <p:spPr>
          <a:xfrm>
            <a:off x="3870655" y="2468880"/>
            <a:ext cx="0" cy="228600"/>
          </a:xfrm>
          <a:prstGeom prst="line">
            <a:avLst/>
          </a:prstGeom>
          <a:noFill/>
          <a:ln w="19050">
            <a:solidFill>
              <a:schemeClr val="accent1"/>
            </a:solidFill>
            <a:prstDash val="solid"/>
          </a:ln>
        </p:spPr>
      </p:sp>
      <p:sp>
        <p:nvSpPr>
          <p:cNvPr id="29" name="Model chip 1"/>
          <p:cNvSpPr/>
          <p:nvPr/>
        </p:nvSpPr>
        <p:spPr>
          <a:xfrm>
            <a:off x="1051560" y="2697480"/>
            <a:ext cx="1645920" cy="548640"/>
          </a:xfrm>
          <a:prstGeom prst="roundRect">
            <a:avLst>
              <a:gd name="adj" fmla="val 20000"/>
            </a:avLst>
          </a:prstGeom>
          <a:solidFill>
            <a:schemeClr val="tx2"/>
          </a:solidFill>
          <a:ln/>
        </p:spPr>
      </p:sp>
      <p:sp>
        <p:nvSpPr>
          <p:cNvPr id="30" name="Text 28"/>
          <p:cNvSpPr txBox="1"/>
          <p:nvPr/>
        </p:nvSpPr>
        <p:spPr>
          <a:xfrm>
            <a:off x="1051560" y="2697480"/>
            <a:ext cx="1645920" cy="548640"/>
          </a:xfrm>
          <a:prstGeom prst="rect">
            <a:avLst/>
          </a:prstGeom>
          <a:noFill/>
          <a:ln/>
        </p:spPr>
        <p:txBody>
          <a:bodyPr wrap="square" lIns="0" tIns="0" rIns="0" bIns="0" rtlCol="0" anchor="ctr"/>
          <a:lstStyle/>
          <a:p>
            <a:pPr algn="ctr" indent="0" marL="0">
              <a:buNone/>
            </a:pPr>
            <a:r>
              <a:rPr lang="en-US" sz="1050" b="1" dirty="0">
                <a:solidFill>
                  <a:schemeClr val="bg1"/>
                </a:solidFill>
              </a:rPr>
              <a:t>Sequence model</a:t>
            </a:r>
            <a:endParaRPr lang="en-US" sz="1050" dirty="0"/>
          </a:p>
          <a:p>
            <a:pPr algn="ctr" indent="0" marL="0">
              <a:buNone/>
            </a:pPr>
            <a:r>
              <a:rPr lang="en-US" sz="1050" dirty="0">
                <a:solidFill>
                  <a:schemeClr val="bg2"/>
                </a:solidFill>
              </a:rPr>
              <a:t>reads the whole run</a:t>
            </a:r>
            <a:endParaRPr lang="en-US" sz="1050" dirty="0"/>
          </a:p>
        </p:txBody>
      </p:sp>
      <p:sp>
        <p:nvSpPr>
          <p:cNvPr id="31" name="Model chip 2"/>
          <p:cNvSpPr/>
          <p:nvPr/>
        </p:nvSpPr>
        <p:spPr>
          <a:xfrm>
            <a:off x="2834640" y="2697480"/>
            <a:ext cx="1645920" cy="548640"/>
          </a:xfrm>
          <a:prstGeom prst="roundRect">
            <a:avLst>
              <a:gd name="adj" fmla="val 20000"/>
            </a:avLst>
          </a:prstGeom>
          <a:solidFill>
            <a:schemeClr val="tx2"/>
          </a:solidFill>
          <a:ln/>
        </p:spPr>
      </p:sp>
      <p:sp>
        <p:nvSpPr>
          <p:cNvPr id="32" name="Text 30"/>
          <p:cNvSpPr txBox="1"/>
          <p:nvPr/>
        </p:nvSpPr>
        <p:spPr>
          <a:xfrm>
            <a:off x="2834640" y="2697480"/>
            <a:ext cx="1645920" cy="548640"/>
          </a:xfrm>
          <a:prstGeom prst="rect">
            <a:avLst/>
          </a:prstGeom>
          <a:noFill/>
          <a:ln/>
        </p:spPr>
        <p:txBody>
          <a:bodyPr wrap="square" lIns="0" tIns="0" rIns="0" bIns="0" rtlCol="0" anchor="ctr"/>
          <a:lstStyle/>
          <a:p>
            <a:pPr algn="ctr" indent="0" marL="0">
              <a:buNone/>
            </a:pPr>
            <a:r>
              <a:rPr lang="en-US" sz="1050" b="1" dirty="0">
                <a:solidFill>
                  <a:schemeClr val="bg1"/>
                </a:solidFill>
              </a:rPr>
              <a:t>Decision trees</a:t>
            </a:r>
            <a:endParaRPr lang="en-US" sz="1050" dirty="0"/>
          </a:p>
          <a:p>
            <a:pPr algn="ctr" indent="0" marL="0">
              <a:buNone/>
            </a:pPr>
            <a:r>
              <a:rPr lang="en-US" sz="1050" dirty="0">
                <a:solidFill>
                  <a:schemeClr val="bg2"/>
                </a:solidFill>
              </a:rPr>
              <a:t>spot bad values</a:t>
            </a:r>
            <a:endParaRPr lang="en-US" sz="1050" dirty="0"/>
          </a:p>
        </p:txBody>
      </p:sp>
      <p:sp>
        <p:nvSpPr>
          <p:cNvPr id="33" name="Model chip 3"/>
          <p:cNvSpPr/>
          <p:nvPr/>
        </p:nvSpPr>
        <p:spPr>
          <a:xfrm>
            <a:off x="4617720" y="2697480"/>
            <a:ext cx="1645920" cy="548640"/>
          </a:xfrm>
          <a:prstGeom prst="roundRect">
            <a:avLst>
              <a:gd name="adj" fmla="val 20000"/>
            </a:avLst>
          </a:prstGeom>
          <a:solidFill>
            <a:schemeClr val="tx2"/>
          </a:solidFill>
          <a:ln/>
        </p:spPr>
      </p:sp>
      <p:sp>
        <p:nvSpPr>
          <p:cNvPr id="34" name="Text 32"/>
          <p:cNvSpPr txBox="1"/>
          <p:nvPr/>
        </p:nvSpPr>
        <p:spPr>
          <a:xfrm>
            <a:off x="4617720" y="2697480"/>
            <a:ext cx="1645920" cy="548640"/>
          </a:xfrm>
          <a:prstGeom prst="rect">
            <a:avLst/>
          </a:prstGeom>
          <a:noFill/>
          <a:ln/>
        </p:spPr>
        <p:txBody>
          <a:bodyPr wrap="square" lIns="0" tIns="0" rIns="0" bIns="0" rtlCol="0" anchor="ctr"/>
          <a:lstStyle/>
          <a:p>
            <a:pPr algn="ctr" indent="0" marL="0">
              <a:buNone/>
            </a:pPr>
            <a:r>
              <a:rPr lang="en-US" sz="1050" b="1" dirty="0">
                <a:solidFill>
                  <a:schemeClr val="bg1"/>
                </a:solidFill>
              </a:rPr>
              <a:t>Anomaly detector</a:t>
            </a:r>
            <a:endParaRPr lang="en-US" sz="1050" dirty="0"/>
          </a:p>
          <a:p>
            <a:pPr algn="ctr" indent="0" marL="0">
              <a:buNone/>
            </a:pPr>
            <a:r>
              <a:rPr lang="en-US" sz="1050" dirty="0">
                <a:solidFill>
                  <a:schemeClr val="bg2"/>
                </a:solidFill>
              </a:rPr>
              <a:t>flags the unusual</a:t>
            </a:r>
            <a:endParaRPr lang="en-US" sz="1050" dirty="0"/>
          </a:p>
        </p:txBody>
      </p:sp>
      <p:sp>
        <p:nvSpPr>
          <p:cNvPr id="35" name="Text 33"/>
          <p:cNvSpPr txBox="1"/>
          <p:nvPr/>
        </p:nvSpPr>
        <p:spPr>
          <a:xfrm>
            <a:off x="457200" y="3383280"/>
            <a:ext cx="1828800" cy="228600"/>
          </a:xfrm>
          <a:prstGeom prst="rect">
            <a:avLst/>
          </a:prstGeom>
          <a:noFill/>
          <a:ln/>
        </p:spPr>
        <p:txBody>
          <a:bodyPr wrap="square" lIns="0" tIns="0" rIns="0" bIns="0" rtlCol="0" anchor="ctr"/>
          <a:lstStyle/>
          <a:p>
            <a:pPr indent="0" marL="0">
              <a:buNone/>
            </a:pPr>
            <a:r>
              <a:rPr lang="en-US" sz="1000" b="1" spc="200" kern="0" dirty="0">
                <a:solidFill>
                  <a:schemeClr val="accent6"/>
                </a:solidFill>
              </a:rPr>
              <a:t>TRAINING PATH</a:t>
            </a:r>
            <a:endParaRPr lang="en-US" sz="1000" dirty="0"/>
          </a:p>
        </p:txBody>
      </p:sp>
      <p:sp>
        <p:nvSpPr>
          <p:cNvPr id="36" name="Train box 1"/>
          <p:cNvSpPr/>
          <p:nvPr/>
        </p:nvSpPr>
        <p:spPr>
          <a:xfrm>
            <a:off x="457200" y="3657600"/>
            <a:ext cx="1851660" cy="868680"/>
          </a:xfrm>
          <a:prstGeom prst="roundRect">
            <a:avLst>
              <a:gd name="adj" fmla="val 12632"/>
            </a:avLst>
          </a:prstGeom>
          <a:solidFill>
            <a:schemeClr val="tx2"/>
          </a:solidFill>
          <a:ln/>
        </p:spPr>
      </p:sp>
      <p:sp>
        <p:nvSpPr>
          <p:cNvPr id="37" name="Text 35"/>
          <p:cNvSpPr txBox="1"/>
          <p:nvPr/>
        </p:nvSpPr>
        <p:spPr>
          <a:xfrm>
            <a:off x="548640" y="3721608"/>
            <a:ext cx="1668780" cy="347472"/>
          </a:xfrm>
          <a:prstGeom prst="rect">
            <a:avLst/>
          </a:prstGeom>
          <a:noFill/>
          <a:ln/>
        </p:spPr>
        <p:txBody>
          <a:bodyPr wrap="square" lIns="0" tIns="0" rIns="0" bIns="0" rtlCol="0" anchor="ctr"/>
          <a:lstStyle/>
          <a:p>
            <a:pPr algn="ctr" indent="0" marL="0">
              <a:buNone/>
            </a:pPr>
            <a:r>
              <a:rPr lang="en-US" sz="1300" b="1" dirty="0">
                <a:solidFill>
                  <a:schemeClr val="accent6"/>
                </a:solidFill>
              </a:rPr>
              <a:t>Fault Injector</a:t>
            </a:r>
            <a:endParaRPr lang="en-US" sz="1300" dirty="0"/>
          </a:p>
        </p:txBody>
      </p:sp>
      <p:sp>
        <p:nvSpPr>
          <p:cNvPr id="38" name="Text 36"/>
          <p:cNvSpPr txBox="1"/>
          <p:nvPr/>
        </p:nvSpPr>
        <p:spPr>
          <a:xfrm>
            <a:off x="548640" y="4069080"/>
            <a:ext cx="1668780" cy="365760"/>
          </a:xfrm>
          <a:prstGeom prst="rect">
            <a:avLst/>
          </a:prstGeom>
          <a:noFill/>
          <a:ln/>
        </p:spPr>
        <p:txBody>
          <a:bodyPr wrap="square" lIns="0" tIns="0" rIns="0" bIns="0" rtlCol="0" anchor="t"/>
          <a:lstStyle/>
          <a:p>
            <a:pPr algn="ctr" indent="0" marL="0">
              <a:buNone/>
            </a:pPr>
            <a:r>
              <a:rPr lang="en-US" sz="1000" dirty="0">
                <a:solidFill>
                  <a:schemeClr val="bg2"/>
                </a:solidFill>
              </a:rPr>
              <a:t>12 real-world faults</a:t>
            </a:r>
            <a:endParaRPr lang="en-US" sz="1000" dirty="0"/>
          </a:p>
        </p:txBody>
      </p:sp>
      <p:sp>
        <p:nvSpPr>
          <p:cNvPr id="39" name="Train arrow 1"/>
          <p:cNvSpPr/>
          <p:nvPr/>
        </p:nvSpPr>
        <p:spPr>
          <a:xfrm>
            <a:off x="2336292" y="4087368"/>
            <a:ext cx="219456" cy="0"/>
          </a:xfrm>
          <a:prstGeom prst="line">
            <a:avLst/>
          </a:prstGeom>
          <a:noFill/>
          <a:ln w="22225">
            <a:solidFill>
              <a:schemeClr val="bg2"/>
            </a:solidFill>
            <a:prstDash val="solid"/>
            <a:tailEnd type="triangle"/>
          </a:ln>
        </p:spPr>
      </p:sp>
      <p:sp>
        <p:nvSpPr>
          <p:cNvPr id="40" name="Train box 2"/>
          <p:cNvSpPr/>
          <p:nvPr/>
        </p:nvSpPr>
        <p:spPr>
          <a:xfrm>
            <a:off x="2583180" y="3657600"/>
            <a:ext cx="1851660" cy="868680"/>
          </a:xfrm>
          <a:prstGeom prst="roundRect">
            <a:avLst>
              <a:gd name="adj" fmla="val 12632"/>
            </a:avLst>
          </a:prstGeom>
          <a:solidFill>
            <a:schemeClr val="tx2"/>
          </a:solidFill>
          <a:ln/>
        </p:spPr>
      </p:sp>
      <p:sp>
        <p:nvSpPr>
          <p:cNvPr id="41" name="Text 39"/>
          <p:cNvSpPr txBox="1"/>
          <p:nvPr/>
        </p:nvSpPr>
        <p:spPr>
          <a:xfrm>
            <a:off x="2674620" y="3721608"/>
            <a:ext cx="1668780" cy="347472"/>
          </a:xfrm>
          <a:prstGeom prst="rect">
            <a:avLst/>
          </a:prstGeom>
          <a:noFill/>
          <a:ln/>
        </p:spPr>
        <p:txBody>
          <a:bodyPr wrap="square" lIns="0" tIns="0" rIns="0" bIns="0" rtlCol="0" anchor="ctr"/>
          <a:lstStyle/>
          <a:p>
            <a:pPr algn="ctr" indent="0" marL="0">
              <a:buNone/>
            </a:pPr>
            <a:r>
              <a:rPr lang="en-US" sz="1300" b="1" dirty="0">
                <a:solidFill>
                  <a:schemeClr val="accent6"/>
                </a:solidFill>
              </a:rPr>
              <a:t>Auto-Labeler</a:t>
            </a:r>
            <a:endParaRPr lang="en-US" sz="1300" dirty="0"/>
          </a:p>
        </p:txBody>
      </p:sp>
      <p:sp>
        <p:nvSpPr>
          <p:cNvPr id="42" name="Text 40"/>
          <p:cNvSpPr txBox="1"/>
          <p:nvPr/>
        </p:nvSpPr>
        <p:spPr>
          <a:xfrm>
            <a:off x="2674620" y="4069080"/>
            <a:ext cx="1668780" cy="365760"/>
          </a:xfrm>
          <a:prstGeom prst="rect">
            <a:avLst/>
          </a:prstGeom>
          <a:noFill/>
          <a:ln/>
        </p:spPr>
        <p:txBody>
          <a:bodyPr wrap="square" lIns="0" tIns="0" rIns="0" bIns="0" rtlCol="0" anchor="t"/>
          <a:lstStyle/>
          <a:p>
            <a:pPr algn="ctr" indent="0" marL="0">
              <a:buNone/>
            </a:pPr>
            <a:r>
              <a:rPr lang="en-US" sz="1000" dirty="0">
                <a:solidFill>
                  <a:schemeClr val="bg2"/>
                </a:solidFill>
              </a:rPr>
              <a:t>finds true cause by replay</a:t>
            </a:r>
            <a:endParaRPr lang="en-US" sz="1000" dirty="0"/>
          </a:p>
        </p:txBody>
      </p:sp>
      <p:sp>
        <p:nvSpPr>
          <p:cNvPr id="43" name="Train arrow 2"/>
          <p:cNvSpPr/>
          <p:nvPr/>
        </p:nvSpPr>
        <p:spPr>
          <a:xfrm>
            <a:off x="4462272" y="4087368"/>
            <a:ext cx="219456" cy="0"/>
          </a:xfrm>
          <a:prstGeom prst="line">
            <a:avLst/>
          </a:prstGeom>
          <a:noFill/>
          <a:ln w="22225">
            <a:solidFill>
              <a:schemeClr val="bg2"/>
            </a:solidFill>
            <a:prstDash val="solid"/>
            <a:tailEnd type="triangle"/>
          </a:ln>
        </p:spPr>
      </p:sp>
      <p:sp>
        <p:nvSpPr>
          <p:cNvPr id="44" name="Train box 3"/>
          <p:cNvSpPr/>
          <p:nvPr/>
        </p:nvSpPr>
        <p:spPr>
          <a:xfrm>
            <a:off x="4709160" y="3657600"/>
            <a:ext cx="1851660" cy="868680"/>
          </a:xfrm>
          <a:prstGeom prst="roundRect">
            <a:avLst>
              <a:gd name="adj" fmla="val 12632"/>
            </a:avLst>
          </a:prstGeom>
          <a:solidFill>
            <a:schemeClr val="tx2"/>
          </a:solidFill>
          <a:ln/>
        </p:spPr>
      </p:sp>
      <p:sp>
        <p:nvSpPr>
          <p:cNvPr id="45" name="Text 43"/>
          <p:cNvSpPr txBox="1"/>
          <p:nvPr/>
        </p:nvSpPr>
        <p:spPr>
          <a:xfrm>
            <a:off x="4800600" y="3721608"/>
            <a:ext cx="1668780" cy="347472"/>
          </a:xfrm>
          <a:prstGeom prst="rect">
            <a:avLst/>
          </a:prstGeom>
          <a:noFill/>
          <a:ln/>
        </p:spPr>
        <p:txBody>
          <a:bodyPr wrap="square" lIns="0" tIns="0" rIns="0" bIns="0" rtlCol="0" anchor="ctr"/>
          <a:lstStyle/>
          <a:p>
            <a:pPr algn="ctr" indent="0" marL="0">
              <a:buNone/>
            </a:pPr>
            <a:r>
              <a:rPr lang="en-US" sz="1300" b="1" dirty="0">
                <a:solidFill>
                  <a:schemeClr val="accent6"/>
                </a:solidFill>
              </a:rPr>
              <a:t>Training Data</a:t>
            </a:r>
            <a:endParaRPr lang="en-US" sz="1300" dirty="0"/>
          </a:p>
        </p:txBody>
      </p:sp>
      <p:sp>
        <p:nvSpPr>
          <p:cNvPr id="46" name="Text 44"/>
          <p:cNvSpPr txBox="1"/>
          <p:nvPr/>
        </p:nvSpPr>
        <p:spPr>
          <a:xfrm>
            <a:off x="4800600" y="4069080"/>
            <a:ext cx="1668780" cy="365760"/>
          </a:xfrm>
          <a:prstGeom prst="rect">
            <a:avLst/>
          </a:prstGeom>
          <a:noFill/>
          <a:ln/>
        </p:spPr>
        <p:txBody>
          <a:bodyPr wrap="square" lIns="0" tIns="0" rIns="0" bIns="0" rtlCol="0" anchor="t"/>
          <a:lstStyle/>
          <a:p>
            <a:pPr algn="ctr" indent="0" marL="0">
              <a:buNone/>
            </a:pPr>
            <a:r>
              <a:rPr lang="en-US" sz="1000" dirty="0">
                <a:solidFill>
                  <a:schemeClr val="bg2"/>
                </a:solidFill>
              </a:rPr>
              <a:t>5,370 runs</a:t>
            </a:r>
            <a:endParaRPr lang="en-US" sz="1000" dirty="0"/>
          </a:p>
        </p:txBody>
      </p:sp>
      <p:sp>
        <p:nvSpPr>
          <p:cNvPr id="47" name="Train arrow 3"/>
          <p:cNvSpPr/>
          <p:nvPr/>
        </p:nvSpPr>
        <p:spPr>
          <a:xfrm>
            <a:off x="6588252" y="4087368"/>
            <a:ext cx="219456" cy="0"/>
          </a:xfrm>
          <a:prstGeom prst="line">
            <a:avLst/>
          </a:prstGeom>
          <a:noFill/>
          <a:ln w="22225">
            <a:solidFill>
              <a:schemeClr val="bg2"/>
            </a:solidFill>
            <a:prstDash val="solid"/>
            <a:tailEnd type="triangle"/>
          </a:ln>
        </p:spPr>
      </p:sp>
      <p:sp>
        <p:nvSpPr>
          <p:cNvPr id="48" name="Train box 4"/>
          <p:cNvSpPr/>
          <p:nvPr/>
        </p:nvSpPr>
        <p:spPr>
          <a:xfrm>
            <a:off x="6835140" y="3657600"/>
            <a:ext cx="1851660" cy="868680"/>
          </a:xfrm>
          <a:prstGeom prst="roundRect">
            <a:avLst>
              <a:gd name="adj" fmla="val 12632"/>
            </a:avLst>
          </a:prstGeom>
          <a:solidFill>
            <a:schemeClr val="tx2"/>
          </a:solidFill>
          <a:ln/>
        </p:spPr>
      </p:sp>
      <p:sp>
        <p:nvSpPr>
          <p:cNvPr id="49" name="Text 47"/>
          <p:cNvSpPr txBox="1"/>
          <p:nvPr/>
        </p:nvSpPr>
        <p:spPr>
          <a:xfrm>
            <a:off x="6926580" y="3721608"/>
            <a:ext cx="1668780" cy="347472"/>
          </a:xfrm>
          <a:prstGeom prst="rect">
            <a:avLst/>
          </a:prstGeom>
          <a:noFill/>
          <a:ln/>
        </p:spPr>
        <p:txBody>
          <a:bodyPr wrap="square" lIns="0" tIns="0" rIns="0" bIns="0" rtlCol="0" anchor="ctr"/>
          <a:lstStyle/>
          <a:p>
            <a:pPr algn="ctr" indent="0" marL="0">
              <a:buNone/>
            </a:pPr>
            <a:r>
              <a:rPr lang="en-US" sz="1300" b="1" dirty="0">
                <a:solidFill>
                  <a:schemeClr val="accent6"/>
                </a:solidFill>
              </a:rPr>
              <a:t>Trained Models</a:t>
            </a:r>
            <a:endParaRPr lang="en-US" sz="1300" dirty="0"/>
          </a:p>
        </p:txBody>
      </p:sp>
      <p:sp>
        <p:nvSpPr>
          <p:cNvPr id="50" name="Text 48"/>
          <p:cNvSpPr txBox="1"/>
          <p:nvPr/>
        </p:nvSpPr>
        <p:spPr>
          <a:xfrm>
            <a:off x="6926580" y="4069080"/>
            <a:ext cx="1668780" cy="365760"/>
          </a:xfrm>
          <a:prstGeom prst="rect">
            <a:avLst/>
          </a:prstGeom>
          <a:noFill/>
          <a:ln/>
        </p:spPr>
        <p:txBody>
          <a:bodyPr wrap="square" lIns="0" tIns="0" rIns="0" bIns="0" rtlCol="0" anchor="t"/>
          <a:lstStyle/>
          <a:p>
            <a:pPr algn="ctr" indent="0" marL="0">
              <a:buNone/>
            </a:pPr>
            <a:r>
              <a:rPr lang="en-US" sz="1000" dirty="0">
                <a:solidFill>
                  <a:schemeClr val="bg2"/>
                </a:solidFill>
              </a:rPr>
              <a:t>feed the diagnosis</a:t>
            </a:r>
            <a:endParaRPr lang="en-US" sz="1000" dirty="0"/>
          </a:p>
        </p:txBody>
      </p:sp>
      <p:sp>
        <p:nvSpPr>
          <p:cNvPr id="51" name="Plugs into"/>
          <p:cNvSpPr txBox="1"/>
          <p:nvPr/>
        </p:nvSpPr>
        <p:spPr>
          <a:xfrm>
            <a:off x="6446520" y="2697480"/>
            <a:ext cx="2240280" cy="868680"/>
          </a:xfrm>
          <a:prstGeom prst="rect">
            <a:avLst/>
          </a:prstGeom>
          <a:noFill/>
          <a:ln/>
        </p:spPr>
        <p:txBody>
          <a:bodyPr wrap="square" lIns="0" tIns="0" rIns="0" bIns="0" rtlCol="0" anchor="t"/>
          <a:lstStyle/>
          <a:p>
            <a:pPr algn="r" indent="0" marL="0">
              <a:buNone/>
            </a:pPr>
            <a:r>
              <a:rPr lang="en-US" sz="1050" b="1" dirty="0">
                <a:solidFill>
                  <a:schemeClr val="accent1"/>
                </a:solidFill>
              </a:rPr>
              <a:t>Plugs into</a:t>
            </a:r>
            <a:endParaRPr lang="en-US" sz="1050" dirty="0"/>
          </a:p>
          <a:p>
            <a:pPr algn="r" indent="0" marL="0">
              <a:buNone/>
            </a:pPr>
            <a:r>
              <a:rPr lang="en-US" sz="1050" dirty="0">
                <a:solidFill>
                  <a:schemeClr val="bg1"/>
                </a:solidFill>
              </a:rPr>
              <a:t>any LangGraph agent</a:t>
            </a:r>
            <a:endParaRPr lang="en-US" sz="1050" dirty="0"/>
          </a:p>
          <a:p>
            <a:pPr algn="r" indent="0" marL="0">
              <a:buNone/>
            </a:pPr>
            <a:r>
              <a:rPr lang="en-US" sz="1050" dirty="0">
                <a:solidFill>
                  <a:schemeClr val="bg1"/>
                </a:solidFill>
              </a:rPr>
              <a:t>standard tracing tools</a:t>
            </a:r>
            <a:endParaRPr lang="en-US" sz="1050" dirty="0"/>
          </a:p>
          <a:p>
            <a:pPr algn="r" indent="0" marL="0">
              <a:buNone/>
            </a:pPr>
            <a:r>
              <a:rPr lang="en-US" sz="1050" dirty="0">
                <a:solidFill>
                  <a:schemeClr val="bg1"/>
                </a:solidFill>
              </a:rPr>
              <a:t>works fully offline</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The numbers</a:t>
            </a: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lIns="0" tIns="0" rIns="0" bIns="0" rtlCol="0" anchor="t"/>
          <a:lstStyle/>
          <a:p>
            <a:pPr indent="0" marL="0">
              <a:buNone/>
            </a:pPr>
            <a:r>
              <a:rPr lang="en-US" sz="1400" dirty="0">
                <a:solidFill>
                  <a:schemeClr val="bg2"/>
                </a:solidFill>
              </a:rPr>
              <a:t>Measured on 322 failed runs from a real LLM agent (GPT-6 Luna)</a:t>
            </a:r>
            <a:endParaRPr lang="en-US" sz="1400" dirty="0"/>
          </a:p>
        </p:txBody>
      </p:sp>
      <p:sp>
        <p:nvSpPr>
          <p:cNvPr id="4" name="Chart card"/>
          <p:cNvSpPr/>
          <p:nvPr/>
        </p:nvSpPr>
        <p:spPr>
          <a:xfrm>
            <a:off x="457200" y="1280160"/>
            <a:ext cx="3931920" cy="3291840"/>
          </a:xfrm>
          <a:prstGeom prst="roundRect">
            <a:avLst>
              <a:gd name="adj" fmla="val 3333"/>
            </a:avLst>
          </a:prstGeom>
          <a:solidFill>
            <a:schemeClr val="tx2"/>
          </a:solidFill>
          <a:ln/>
        </p:spPr>
      </p:sp>
      <p:sp>
        <p:nvSpPr>
          <p:cNvPr id="5" name="Text 3"/>
          <p:cNvSpPr txBox="1"/>
          <p:nvPr/>
        </p:nvSpPr>
        <p:spPr>
          <a:xfrm>
            <a:off x="640080" y="1389888"/>
            <a:ext cx="3566160" cy="320040"/>
          </a:xfrm>
          <a:prstGeom prst="rect">
            <a:avLst/>
          </a:prstGeom>
          <a:noFill/>
          <a:ln/>
        </p:spPr>
        <p:txBody>
          <a:bodyPr wrap="square" lIns="0" tIns="0" rIns="0" bIns="0" rtlCol="0" anchor="ctr"/>
          <a:lstStyle/>
          <a:p>
            <a:pPr indent="0" marL="0">
              <a:buNone/>
            </a:pPr>
            <a:r>
              <a:rPr lang="en-US" sz="1300" b="1" dirty="0">
                <a:solidFill>
                  <a:schemeClr val="bg1"/>
                </a:solidFill>
              </a:rPr>
              <a:t>Finds the exact faulty step on the first guess</a:t>
            </a:r>
            <a:endParaRPr lang="en-US" sz="1300" dirty="0"/>
          </a:p>
        </p:txBody>
      </p:sp>
      <p:graphicFrame>
        <p:nvGraphicFramePr>
          <p:cNvPr id="6" name="Accuracy chart" descr=""/>
          <p:cNvGraphicFramePr/>
          <p:nvPr/>
        </p:nvGraphicFramePr>
        <p:xfrm>
          <a:off x="548640" y="1737360"/>
          <a:ext cx="3749040" cy="2743200"/>
        </p:xfrm>
        <a:graphic xmlns:a="http://schemas.openxmlformats.org/drawingml/2006/main">
          <a:graphicData uri="http://schemas.openxmlformats.org/drawingml/2006/chart">
            <c:chart xmlns:c="http://schemas.openxmlformats.org/drawingml/2006/chart" r:id="rId1"/>
          </a:graphicData>
        </a:graphic>
      </p:graphicFrame>
      <p:sp>
        <p:nvSpPr>
          <p:cNvPr id="7" name="Stat card 1"/>
          <p:cNvSpPr/>
          <p:nvPr/>
        </p:nvSpPr>
        <p:spPr>
          <a:xfrm>
            <a:off x="4572000" y="1280160"/>
            <a:ext cx="1965960" cy="1005840"/>
          </a:xfrm>
          <a:prstGeom prst="roundRect">
            <a:avLst>
              <a:gd name="adj" fmla="val 10909"/>
            </a:avLst>
          </a:prstGeom>
          <a:solidFill>
            <a:schemeClr val="tx2"/>
          </a:solidFill>
          <a:ln/>
        </p:spPr>
      </p:sp>
      <p:sp>
        <p:nvSpPr>
          <p:cNvPr id="8" name="Text 5"/>
          <p:cNvSpPr txBox="1"/>
          <p:nvPr/>
        </p:nvSpPr>
        <p:spPr>
          <a:xfrm>
            <a:off x="4754880" y="137160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92%</a:t>
            </a:r>
            <a:endParaRPr lang="en-US" sz="2600" dirty="0"/>
          </a:p>
        </p:txBody>
      </p:sp>
      <p:sp>
        <p:nvSpPr>
          <p:cNvPr id="9" name="Text 6"/>
          <p:cNvSpPr txBox="1"/>
          <p:nvPr/>
        </p:nvSpPr>
        <p:spPr>
          <a:xfrm>
            <a:off x="4754880" y="1828800"/>
            <a:ext cx="1691640" cy="384048"/>
          </a:xfrm>
          <a:prstGeom prst="rect">
            <a:avLst/>
          </a:prstGeom>
          <a:noFill/>
          <a:ln/>
        </p:spPr>
        <p:txBody>
          <a:bodyPr wrap="square" lIns="0" tIns="0" rIns="0" bIns="0" rtlCol="0" anchor="t"/>
          <a:lstStyle/>
          <a:p>
            <a:pPr indent="0" marL="0">
              <a:buNone/>
            </a:pPr>
            <a:r>
              <a:rPr lang="en-US" sz="1050" dirty="0">
                <a:solidFill>
                  <a:schemeClr val="bg2"/>
                </a:solidFill>
              </a:rPr>
              <a:t>on fault types it never saw in training</a:t>
            </a:r>
            <a:endParaRPr lang="en-US" sz="1050" dirty="0"/>
          </a:p>
        </p:txBody>
      </p:sp>
      <p:sp>
        <p:nvSpPr>
          <p:cNvPr id="10" name="Stat card 2"/>
          <p:cNvSpPr/>
          <p:nvPr/>
        </p:nvSpPr>
        <p:spPr>
          <a:xfrm>
            <a:off x="6675120" y="1280160"/>
            <a:ext cx="1965960" cy="1005840"/>
          </a:xfrm>
          <a:prstGeom prst="roundRect">
            <a:avLst>
              <a:gd name="adj" fmla="val 10909"/>
            </a:avLst>
          </a:prstGeom>
          <a:solidFill>
            <a:schemeClr val="tx2"/>
          </a:solidFill>
          <a:ln/>
        </p:spPr>
      </p:sp>
      <p:sp>
        <p:nvSpPr>
          <p:cNvPr id="11" name="Text 8"/>
          <p:cNvSpPr txBox="1"/>
          <p:nvPr/>
        </p:nvSpPr>
        <p:spPr>
          <a:xfrm>
            <a:off x="6858000" y="137160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96%</a:t>
            </a:r>
            <a:endParaRPr lang="en-US" sz="2600" dirty="0"/>
          </a:p>
        </p:txBody>
      </p:sp>
      <p:sp>
        <p:nvSpPr>
          <p:cNvPr id="12" name="Text 9"/>
          <p:cNvSpPr txBox="1"/>
          <p:nvPr/>
        </p:nvSpPr>
        <p:spPr>
          <a:xfrm>
            <a:off x="6858000" y="1828800"/>
            <a:ext cx="1691640" cy="384048"/>
          </a:xfrm>
          <a:prstGeom prst="rect">
            <a:avLst/>
          </a:prstGeom>
          <a:noFill/>
          <a:ln/>
        </p:spPr>
        <p:txBody>
          <a:bodyPr wrap="square" lIns="0" tIns="0" rIns="0" bIns="0" rtlCol="0" anchor="t"/>
          <a:lstStyle/>
          <a:p>
            <a:pPr indent="0" marL="0">
              <a:buNone/>
            </a:pPr>
            <a:r>
              <a:rPr lang="en-US" sz="1050" dirty="0">
                <a:solidFill>
                  <a:schemeClr val="bg2"/>
                </a:solidFill>
              </a:rPr>
              <a:t>on real GPT runs after training only on simulated ones</a:t>
            </a:r>
            <a:endParaRPr lang="en-US" sz="1050" dirty="0"/>
          </a:p>
        </p:txBody>
      </p:sp>
      <p:sp>
        <p:nvSpPr>
          <p:cNvPr id="13" name="Stat card 3"/>
          <p:cNvSpPr/>
          <p:nvPr/>
        </p:nvSpPr>
        <p:spPr>
          <a:xfrm>
            <a:off x="4572000" y="2404872"/>
            <a:ext cx="1965960" cy="1005840"/>
          </a:xfrm>
          <a:prstGeom prst="roundRect">
            <a:avLst>
              <a:gd name="adj" fmla="val 10909"/>
            </a:avLst>
          </a:prstGeom>
          <a:solidFill>
            <a:schemeClr val="tx2"/>
          </a:solidFill>
          <a:ln/>
        </p:spPr>
      </p:sp>
      <p:sp>
        <p:nvSpPr>
          <p:cNvPr id="14" name="Text 11"/>
          <p:cNvSpPr txBox="1"/>
          <p:nvPr/>
        </p:nvSpPr>
        <p:spPr>
          <a:xfrm>
            <a:off x="4754880" y="2496312"/>
            <a:ext cx="1645920" cy="457200"/>
          </a:xfrm>
          <a:prstGeom prst="rect">
            <a:avLst/>
          </a:prstGeom>
          <a:noFill/>
          <a:ln/>
        </p:spPr>
        <p:txBody>
          <a:bodyPr wrap="square" lIns="0" tIns="0" rIns="0" bIns="0" rtlCol="0" anchor="ctr"/>
          <a:lstStyle/>
          <a:p>
            <a:pPr indent="0" marL="0">
              <a:buNone/>
            </a:pPr>
            <a:r>
              <a:rPr lang="en-US" sz="2600" b="1" dirty="0">
                <a:solidFill>
                  <a:schemeClr val="accent6"/>
                </a:solidFill>
              </a:rPr>
              <a:t>27 ms</a:t>
            </a:r>
            <a:endParaRPr lang="en-US" sz="2600" dirty="0"/>
          </a:p>
        </p:txBody>
      </p:sp>
      <p:sp>
        <p:nvSpPr>
          <p:cNvPr id="15" name="Text 12"/>
          <p:cNvSpPr txBox="1"/>
          <p:nvPr/>
        </p:nvSpPr>
        <p:spPr>
          <a:xfrm>
            <a:off x="4754880" y="2953512"/>
            <a:ext cx="1691640" cy="384048"/>
          </a:xfrm>
          <a:prstGeom prst="rect">
            <a:avLst/>
          </a:prstGeom>
          <a:noFill/>
          <a:ln/>
        </p:spPr>
        <p:txBody>
          <a:bodyPr wrap="square" lIns="0" tIns="0" rIns="0" bIns="0" rtlCol="0" anchor="t"/>
          <a:lstStyle/>
          <a:p>
            <a:pPr indent="0" marL="0">
              <a:buNone/>
            </a:pPr>
            <a:r>
              <a:rPr lang="en-US" sz="1050" dirty="0">
                <a:solidFill>
                  <a:schemeClr val="bg2"/>
                </a:solidFill>
              </a:rPr>
              <a:t>per diagnosis, no API call needed</a:t>
            </a:r>
            <a:endParaRPr lang="en-US" sz="1050" dirty="0"/>
          </a:p>
        </p:txBody>
      </p:sp>
      <p:sp>
        <p:nvSpPr>
          <p:cNvPr id="16" name="Stat card 4"/>
          <p:cNvSpPr/>
          <p:nvPr/>
        </p:nvSpPr>
        <p:spPr>
          <a:xfrm>
            <a:off x="6675120" y="2404872"/>
            <a:ext cx="1965960" cy="1005840"/>
          </a:xfrm>
          <a:prstGeom prst="roundRect">
            <a:avLst>
              <a:gd name="adj" fmla="val 10909"/>
            </a:avLst>
          </a:prstGeom>
          <a:solidFill>
            <a:schemeClr val="tx2"/>
          </a:solidFill>
          <a:ln/>
        </p:spPr>
      </p:sp>
      <p:sp>
        <p:nvSpPr>
          <p:cNvPr id="17" name="Text 14"/>
          <p:cNvSpPr txBox="1"/>
          <p:nvPr/>
        </p:nvSpPr>
        <p:spPr>
          <a:xfrm>
            <a:off x="6858000" y="2496312"/>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63%</a:t>
            </a:r>
            <a:endParaRPr lang="en-US" sz="2600" dirty="0"/>
          </a:p>
        </p:txBody>
      </p:sp>
      <p:sp>
        <p:nvSpPr>
          <p:cNvPr id="18" name="Text 15"/>
          <p:cNvSpPr txBox="1"/>
          <p:nvPr/>
        </p:nvSpPr>
        <p:spPr>
          <a:xfrm>
            <a:off x="6858000" y="2953512"/>
            <a:ext cx="1691640" cy="384048"/>
          </a:xfrm>
          <a:prstGeom prst="rect">
            <a:avLst/>
          </a:prstGeom>
          <a:noFill/>
          <a:ln/>
        </p:spPr>
        <p:txBody>
          <a:bodyPr wrap="square" lIns="0" tIns="0" rIns="0" bIns="0" rtlCol="0" anchor="t"/>
          <a:lstStyle/>
          <a:p>
            <a:pPr indent="0" marL="0">
              <a:buNone/>
            </a:pPr>
            <a:r>
              <a:rPr lang="en-US" sz="1050" dirty="0">
                <a:solidFill>
                  <a:schemeClr val="bg2"/>
                </a:solidFill>
              </a:rPr>
              <a:t>fewer tokens than re-running the whole agent</a:t>
            </a:r>
            <a:endParaRPr lang="en-US" sz="1050" dirty="0"/>
          </a:p>
        </p:txBody>
      </p:sp>
      <p:sp>
        <p:nvSpPr>
          <p:cNvPr id="19" name="Stat card 5"/>
          <p:cNvSpPr/>
          <p:nvPr/>
        </p:nvSpPr>
        <p:spPr>
          <a:xfrm>
            <a:off x="4572000" y="3529584"/>
            <a:ext cx="1965960" cy="1005840"/>
          </a:xfrm>
          <a:prstGeom prst="roundRect">
            <a:avLst>
              <a:gd name="adj" fmla="val 10909"/>
            </a:avLst>
          </a:prstGeom>
          <a:solidFill>
            <a:schemeClr val="tx2"/>
          </a:solidFill>
          <a:ln/>
        </p:spPr>
      </p:sp>
      <p:sp>
        <p:nvSpPr>
          <p:cNvPr id="20" name="Text 17"/>
          <p:cNvSpPr txBox="1"/>
          <p:nvPr/>
        </p:nvSpPr>
        <p:spPr>
          <a:xfrm>
            <a:off x="4754880" y="3621024"/>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5,370</a:t>
            </a:r>
            <a:endParaRPr lang="en-US" sz="2600" dirty="0"/>
          </a:p>
        </p:txBody>
      </p:sp>
      <p:sp>
        <p:nvSpPr>
          <p:cNvPr id="21" name="Text 18"/>
          <p:cNvSpPr txBox="1"/>
          <p:nvPr/>
        </p:nvSpPr>
        <p:spPr>
          <a:xfrm>
            <a:off x="4754880" y="4078224"/>
            <a:ext cx="1691640" cy="384048"/>
          </a:xfrm>
          <a:prstGeom prst="rect">
            <a:avLst/>
          </a:prstGeom>
          <a:noFill/>
          <a:ln/>
        </p:spPr>
        <p:txBody>
          <a:bodyPr wrap="square" lIns="0" tIns="0" rIns="0" bIns="0" rtlCol="0" anchor="t"/>
          <a:lstStyle/>
          <a:p>
            <a:pPr indent="0" marL="0">
              <a:buNone/>
            </a:pPr>
            <a:r>
              <a:rPr lang="en-US" sz="1050" dirty="0">
                <a:solidFill>
                  <a:schemeClr val="bg2"/>
                </a:solidFill>
              </a:rPr>
              <a:t>runs recorded, incl. 29,110 steps on GPT-6 Luna</a:t>
            </a:r>
            <a:endParaRPr lang="en-US" sz="1050" dirty="0"/>
          </a:p>
        </p:txBody>
      </p:sp>
      <p:sp>
        <p:nvSpPr>
          <p:cNvPr id="22" name="Stat card 6"/>
          <p:cNvSpPr/>
          <p:nvPr/>
        </p:nvSpPr>
        <p:spPr>
          <a:xfrm>
            <a:off x="6675120" y="3529584"/>
            <a:ext cx="1965960" cy="1005840"/>
          </a:xfrm>
          <a:prstGeom prst="roundRect">
            <a:avLst>
              <a:gd name="adj" fmla="val 10909"/>
            </a:avLst>
          </a:prstGeom>
          <a:solidFill>
            <a:schemeClr val="tx2"/>
          </a:solidFill>
          <a:ln/>
        </p:spPr>
      </p:sp>
      <p:sp>
        <p:nvSpPr>
          <p:cNvPr id="23" name="Text 20"/>
          <p:cNvSpPr txBox="1"/>
          <p:nvPr/>
        </p:nvSpPr>
        <p:spPr>
          <a:xfrm>
            <a:off x="6858000" y="3621024"/>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$0.65</a:t>
            </a:r>
            <a:endParaRPr lang="en-US" sz="2600" dirty="0"/>
          </a:p>
        </p:txBody>
      </p:sp>
      <p:sp>
        <p:nvSpPr>
          <p:cNvPr id="24" name="Text 21"/>
          <p:cNvSpPr txBox="1"/>
          <p:nvPr/>
        </p:nvSpPr>
        <p:spPr>
          <a:xfrm>
            <a:off x="6858000" y="4078224"/>
            <a:ext cx="1691640" cy="384048"/>
          </a:xfrm>
          <a:prstGeom prst="rect">
            <a:avLst/>
          </a:prstGeom>
          <a:noFill/>
          <a:ln/>
        </p:spPr>
        <p:txBody>
          <a:bodyPr wrap="square" lIns="0" tIns="0" rIns="0" bIns="0" rtlCol="0" anchor="t"/>
          <a:lstStyle/>
          <a:p>
            <a:pPr indent="0" marL="0">
              <a:buNone/>
            </a:pPr>
            <a:r>
              <a:rPr lang="en-US" sz="1050" dirty="0">
                <a:solidFill>
                  <a:schemeClr val="bg2"/>
                </a:solidFill>
              </a:rPr>
              <a:t>total API spend for the entire project</a:t>
            </a:r>
            <a:endParaRPr lang="en-US" sz="105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Why we win &amp; what's next</a:t>
            </a:r>
            <a:endParaRPr lang="en-US" sz="3000" dirty="0"/>
          </a:p>
        </p:txBody>
      </p:sp>
      <p:sp>
        <p:nvSpPr>
          <p:cNvPr id="3" name="Text 0"/>
          <p:cNvSpPr/>
          <p:nvPr>
            <p:ph idx="101" type="body" hasCustomPrompt="1"/>
          </p:nvPr>
        </p:nvSpPr>
        <p:spPr>
          <a:xfrm>
            <a:off x="457200" y="804672"/>
            <a:ext cx="8229600" cy="320040"/>
          </a:xfrm>
          <a:prstGeom prst="rect">
            <a:avLst/>
          </a:prstGeom>
          <a:noFill/>
          <a:ln/>
        </p:spPr>
        <p:txBody>
          <a:bodyPr wrap="square" lIns="0" tIns="0" rIns="0" bIns="0" rtlCol="0" anchor="t"/>
          <a:lstStyle/>
          <a:p>
            <a:pPr indent="0" marL="0">
              <a:buNone/>
            </a:pPr>
            <a:r>
              <a:rPr lang="en-US" sz="1400" dirty="0">
                <a:solidFill>
                  <a:schemeClr val="bg2"/>
                </a:solidFill>
              </a:rPr>
              <a:t>Built to be trusted today, and to grow into a product</a:t>
            </a:r>
            <a:endParaRPr lang="en-US" sz="1400" dirty="0"/>
          </a:p>
        </p:txBody>
      </p:sp>
      <p:sp>
        <p:nvSpPr>
          <p:cNvPr id="4" name="USP card 1"/>
          <p:cNvSpPr/>
          <p:nvPr/>
        </p:nvSpPr>
        <p:spPr>
          <a:xfrm>
            <a:off x="457200" y="1298448"/>
            <a:ext cx="4206240" cy="713232"/>
          </a:xfrm>
          <a:prstGeom prst="roundRect">
            <a:avLst>
              <a:gd name="adj" fmla="val 15385"/>
            </a:avLst>
          </a:prstGeom>
          <a:solidFill>
            <a:schemeClr val="tx2"/>
          </a:solidFill>
          <a:ln/>
        </p:spPr>
      </p:sp>
      <p:sp>
        <p:nvSpPr>
          <p:cNvPr id="5" name="USP icon circle 1"/>
          <p:cNvSpPr/>
          <p:nvPr/>
        </p:nvSpPr>
        <p:spPr>
          <a:xfrm>
            <a:off x="621792" y="1426464"/>
            <a:ext cx="457200" cy="457200"/>
          </a:xfrm>
          <a:prstGeom prst="ellipse">
            <a:avLst/>
          </a:prstGeom>
          <a:solidFill>
            <a:schemeClr val="tx1"/>
          </a:solidFill>
          <a:ln/>
        </p:spPr>
      </p:sp>
      <p:pic>
        <p:nvPicPr>
          <p:cNvPr id="6" name="USP icon 1" descr="preencoded.png">    </p:cNvPr>
          <p:cNvPicPr>
            <a:picLocks noChangeAspect="1"/>
          </p:cNvPicPr>
          <p:nvPr/>
        </p:nvPicPr>
        <p:blipFill>
          <a:blip r:embed="rId1"/>
          <a:stretch>
            <a:fillRect/>
          </a:stretch>
        </p:blipFill>
        <p:spPr>
          <a:xfrm>
            <a:off x="731520" y="1536192"/>
            <a:ext cx="237744" cy="237744"/>
          </a:xfrm>
          <a:prstGeom prst="rect">
            <a:avLst/>
          </a:prstGeom>
        </p:spPr>
      </p:pic>
      <p:sp>
        <p:nvSpPr>
          <p:cNvPr id="7" name="Text 4"/>
          <p:cNvSpPr txBox="1"/>
          <p:nvPr/>
        </p:nvSpPr>
        <p:spPr>
          <a:xfrm>
            <a:off x="1234440" y="1389888"/>
            <a:ext cx="3291840" cy="274320"/>
          </a:xfrm>
          <a:prstGeom prst="rect">
            <a:avLst/>
          </a:prstGeom>
          <a:noFill/>
          <a:ln/>
        </p:spPr>
        <p:txBody>
          <a:bodyPr wrap="square" lIns="0" tIns="0" rIns="0" bIns="0" rtlCol="0" anchor="ctr"/>
          <a:lstStyle/>
          <a:p>
            <a:pPr indent="0" marL="0">
              <a:buNone/>
            </a:pPr>
            <a:r>
              <a:rPr lang="en-US" sz="1400" b="1" dirty="0">
                <a:solidFill>
                  <a:schemeClr val="bg1"/>
                </a:solidFill>
              </a:rPr>
              <a:t>Proof, not guesses</a:t>
            </a:r>
            <a:endParaRPr lang="en-US" sz="1400" dirty="0"/>
          </a:p>
        </p:txBody>
      </p:sp>
      <p:sp>
        <p:nvSpPr>
          <p:cNvPr id="8" name="Text 5"/>
          <p:cNvSpPr txBox="1"/>
          <p:nvPr/>
        </p:nvSpPr>
        <p:spPr>
          <a:xfrm>
            <a:off x="1234440" y="1664208"/>
            <a:ext cx="3291840" cy="274320"/>
          </a:xfrm>
          <a:prstGeom prst="rect">
            <a:avLst/>
          </a:prstGeom>
          <a:noFill/>
          <a:ln/>
        </p:spPr>
        <p:txBody>
          <a:bodyPr wrap="square" lIns="0" tIns="0" rIns="0" bIns="0" rtlCol="0" anchor="ctr"/>
          <a:lstStyle/>
          <a:p>
            <a:pPr indent="0" marL="0">
              <a:buNone/>
            </a:pPr>
            <a:r>
              <a:rPr lang="en-US" sz="1200" dirty="0">
                <a:solidFill>
                  <a:schemeClr val="bg2"/>
                </a:solidFill>
              </a:rPr>
              <a:t>Every diagnosis is confirmed by replaying the fix.</a:t>
            </a:r>
            <a:endParaRPr lang="en-US" sz="1200" dirty="0"/>
          </a:p>
        </p:txBody>
      </p:sp>
      <p:sp>
        <p:nvSpPr>
          <p:cNvPr id="9" name="USP card 2"/>
          <p:cNvSpPr/>
          <p:nvPr/>
        </p:nvSpPr>
        <p:spPr>
          <a:xfrm>
            <a:off x="457200" y="2121408"/>
            <a:ext cx="4206240" cy="713232"/>
          </a:xfrm>
          <a:prstGeom prst="roundRect">
            <a:avLst>
              <a:gd name="adj" fmla="val 15385"/>
            </a:avLst>
          </a:prstGeom>
          <a:solidFill>
            <a:schemeClr val="tx2"/>
          </a:solidFill>
          <a:ln/>
        </p:spPr>
      </p:sp>
      <p:sp>
        <p:nvSpPr>
          <p:cNvPr id="10" name="USP icon circle 2"/>
          <p:cNvSpPr/>
          <p:nvPr/>
        </p:nvSpPr>
        <p:spPr>
          <a:xfrm>
            <a:off x="621792" y="2249424"/>
            <a:ext cx="457200" cy="457200"/>
          </a:xfrm>
          <a:prstGeom prst="ellipse">
            <a:avLst/>
          </a:prstGeom>
          <a:solidFill>
            <a:schemeClr val="tx1"/>
          </a:solidFill>
          <a:ln/>
        </p:spPr>
      </p:sp>
      <p:pic>
        <p:nvPicPr>
          <p:cNvPr id="11" name="USP icon 2" descr="preencoded.png">    </p:cNvPr>
          <p:cNvPicPr>
            <a:picLocks noChangeAspect="1"/>
          </p:cNvPicPr>
          <p:nvPr/>
        </p:nvPicPr>
        <p:blipFill>
          <a:blip r:embed="rId2"/>
          <a:stretch>
            <a:fillRect/>
          </a:stretch>
        </p:blipFill>
        <p:spPr>
          <a:xfrm>
            <a:off x="731520" y="2359152"/>
            <a:ext cx="237744" cy="237744"/>
          </a:xfrm>
          <a:prstGeom prst="rect">
            <a:avLst/>
          </a:prstGeom>
        </p:spPr>
      </p:pic>
      <p:sp>
        <p:nvSpPr>
          <p:cNvPr id="12" name="Text 8"/>
          <p:cNvSpPr txBox="1"/>
          <p:nvPr/>
        </p:nvSpPr>
        <p:spPr>
          <a:xfrm>
            <a:off x="1234440" y="2212848"/>
            <a:ext cx="3291840" cy="274320"/>
          </a:xfrm>
          <a:prstGeom prst="rect">
            <a:avLst/>
          </a:prstGeom>
          <a:noFill/>
          <a:ln/>
        </p:spPr>
        <p:txBody>
          <a:bodyPr wrap="square" lIns="0" tIns="0" rIns="0" bIns="0" rtlCol="0" anchor="ctr"/>
          <a:lstStyle/>
          <a:p>
            <a:pPr indent="0" marL="0">
              <a:buNone/>
            </a:pPr>
            <a:r>
              <a:rPr lang="en-US" sz="1400" b="1" dirty="0">
                <a:solidFill>
                  <a:schemeClr val="bg1"/>
                </a:solidFill>
              </a:rPr>
              <a:t>Fast and free to run</a:t>
            </a:r>
            <a:endParaRPr lang="en-US" sz="1400" dirty="0"/>
          </a:p>
        </p:txBody>
      </p:sp>
      <p:sp>
        <p:nvSpPr>
          <p:cNvPr id="13" name="Text 9"/>
          <p:cNvSpPr txBox="1"/>
          <p:nvPr/>
        </p:nvSpPr>
        <p:spPr>
          <a:xfrm>
            <a:off x="1234440" y="2487168"/>
            <a:ext cx="3291840" cy="274320"/>
          </a:xfrm>
          <a:prstGeom prst="rect">
            <a:avLst/>
          </a:prstGeom>
          <a:noFill/>
          <a:ln/>
        </p:spPr>
        <p:txBody>
          <a:bodyPr wrap="square" lIns="0" tIns="0" rIns="0" bIns="0" rtlCol="0" anchor="ctr"/>
          <a:lstStyle/>
          <a:p>
            <a:pPr indent="0" marL="0">
              <a:buNone/>
            </a:pPr>
            <a:r>
              <a:rPr lang="en-US" sz="1200" dirty="0">
                <a:solidFill>
                  <a:schemeClr val="bg2"/>
                </a:solidFill>
              </a:rPr>
              <a:t>27 ms per run, works offline, no per-run AI bill.</a:t>
            </a:r>
            <a:endParaRPr lang="en-US" sz="1200" dirty="0"/>
          </a:p>
        </p:txBody>
      </p:sp>
      <p:sp>
        <p:nvSpPr>
          <p:cNvPr id="14" name="USP card 3"/>
          <p:cNvSpPr/>
          <p:nvPr/>
        </p:nvSpPr>
        <p:spPr>
          <a:xfrm>
            <a:off x="457200" y="2944368"/>
            <a:ext cx="4206240" cy="713232"/>
          </a:xfrm>
          <a:prstGeom prst="roundRect">
            <a:avLst>
              <a:gd name="adj" fmla="val 15385"/>
            </a:avLst>
          </a:prstGeom>
          <a:solidFill>
            <a:schemeClr val="tx2"/>
          </a:solidFill>
          <a:ln/>
        </p:spPr>
      </p:sp>
      <p:sp>
        <p:nvSpPr>
          <p:cNvPr id="15" name="USP icon circle 3"/>
          <p:cNvSpPr/>
          <p:nvPr/>
        </p:nvSpPr>
        <p:spPr>
          <a:xfrm>
            <a:off x="621792" y="3072384"/>
            <a:ext cx="457200" cy="457200"/>
          </a:xfrm>
          <a:prstGeom prst="ellipse">
            <a:avLst/>
          </a:prstGeom>
          <a:solidFill>
            <a:schemeClr val="tx1"/>
          </a:solidFill>
          <a:ln/>
        </p:spPr>
      </p:sp>
      <p:pic>
        <p:nvPicPr>
          <p:cNvPr id="16" name="USP icon 3" descr="preencoded.png">    </p:cNvPr>
          <p:cNvPicPr>
            <a:picLocks noChangeAspect="1"/>
          </p:cNvPicPr>
          <p:nvPr/>
        </p:nvPicPr>
        <p:blipFill>
          <a:blip r:embed="rId3"/>
          <a:stretch>
            <a:fillRect/>
          </a:stretch>
        </p:blipFill>
        <p:spPr>
          <a:xfrm>
            <a:off x="731520" y="3182112"/>
            <a:ext cx="237744" cy="237744"/>
          </a:xfrm>
          <a:prstGeom prst="rect">
            <a:avLst/>
          </a:prstGeom>
        </p:spPr>
      </p:pic>
      <p:sp>
        <p:nvSpPr>
          <p:cNvPr id="17" name="Text 12"/>
          <p:cNvSpPr txBox="1"/>
          <p:nvPr/>
        </p:nvSpPr>
        <p:spPr>
          <a:xfrm>
            <a:off x="1234440" y="3035808"/>
            <a:ext cx="3291840" cy="274320"/>
          </a:xfrm>
          <a:prstGeom prst="rect">
            <a:avLst/>
          </a:prstGeom>
          <a:noFill/>
          <a:ln/>
        </p:spPr>
        <p:txBody>
          <a:bodyPr wrap="square" lIns="0" tIns="0" rIns="0" bIns="0" rtlCol="0" anchor="ctr"/>
          <a:lstStyle/>
          <a:p>
            <a:pPr indent="0" marL="0">
              <a:buNone/>
            </a:pPr>
            <a:r>
              <a:rPr lang="en-US" sz="1400" b="1" dirty="0">
                <a:solidFill>
                  <a:schemeClr val="bg1"/>
                </a:solidFill>
              </a:rPr>
              <a:t>Plug and play</a:t>
            </a:r>
            <a:endParaRPr lang="en-US" sz="1400" dirty="0"/>
          </a:p>
        </p:txBody>
      </p:sp>
      <p:sp>
        <p:nvSpPr>
          <p:cNvPr id="18" name="Text 13"/>
          <p:cNvSpPr txBox="1"/>
          <p:nvPr/>
        </p:nvSpPr>
        <p:spPr>
          <a:xfrm>
            <a:off x="1234440" y="3310128"/>
            <a:ext cx="3291840" cy="274320"/>
          </a:xfrm>
          <a:prstGeom prst="rect">
            <a:avLst/>
          </a:prstGeom>
          <a:noFill/>
          <a:ln/>
        </p:spPr>
        <p:txBody>
          <a:bodyPr wrap="square" lIns="0" tIns="0" rIns="0" bIns="0" rtlCol="0" anchor="ctr"/>
          <a:lstStyle/>
          <a:p>
            <a:pPr indent="0" marL="0">
              <a:buNone/>
            </a:pPr>
            <a:r>
              <a:rPr lang="en-US" sz="1200" dirty="0">
                <a:solidFill>
                  <a:schemeClr val="bg2"/>
                </a:solidFill>
              </a:rPr>
              <a:t>Two lines wrap any LangGraph agent.</a:t>
            </a:r>
            <a:endParaRPr lang="en-US" sz="1200" dirty="0"/>
          </a:p>
        </p:txBody>
      </p:sp>
      <p:sp>
        <p:nvSpPr>
          <p:cNvPr id="19" name="USP card 4"/>
          <p:cNvSpPr/>
          <p:nvPr/>
        </p:nvSpPr>
        <p:spPr>
          <a:xfrm>
            <a:off x="457200" y="3767328"/>
            <a:ext cx="4206240" cy="713232"/>
          </a:xfrm>
          <a:prstGeom prst="roundRect">
            <a:avLst>
              <a:gd name="adj" fmla="val 15385"/>
            </a:avLst>
          </a:prstGeom>
          <a:solidFill>
            <a:schemeClr val="tx2"/>
          </a:solidFill>
          <a:ln/>
        </p:spPr>
      </p:sp>
      <p:sp>
        <p:nvSpPr>
          <p:cNvPr id="20" name="USP icon circle 4"/>
          <p:cNvSpPr/>
          <p:nvPr/>
        </p:nvSpPr>
        <p:spPr>
          <a:xfrm>
            <a:off x="621792" y="3895344"/>
            <a:ext cx="457200" cy="457200"/>
          </a:xfrm>
          <a:prstGeom prst="ellipse">
            <a:avLst/>
          </a:prstGeom>
          <a:solidFill>
            <a:schemeClr val="tx1"/>
          </a:solidFill>
          <a:ln/>
        </p:spPr>
      </p:sp>
      <p:pic>
        <p:nvPicPr>
          <p:cNvPr id="21" name="USP icon 4" descr="preencoded.png">    </p:cNvPr>
          <p:cNvPicPr>
            <a:picLocks noChangeAspect="1"/>
          </p:cNvPicPr>
          <p:nvPr/>
        </p:nvPicPr>
        <p:blipFill>
          <a:blip r:embed="rId4"/>
          <a:stretch>
            <a:fillRect/>
          </a:stretch>
        </p:blipFill>
        <p:spPr>
          <a:xfrm>
            <a:off x="731520" y="4005072"/>
            <a:ext cx="237744" cy="237744"/>
          </a:xfrm>
          <a:prstGeom prst="rect">
            <a:avLst/>
          </a:prstGeom>
        </p:spPr>
      </p:pic>
      <p:sp>
        <p:nvSpPr>
          <p:cNvPr id="22" name="Text 16"/>
          <p:cNvSpPr txBox="1"/>
          <p:nvPr/>
        </p:nvSpPr>
        <p:spPr>
          <a:xfrm>
            <a:off x="1234440" y="3858768"/>
            <a:ext cx="3291840" cy="274320"/>
          </a:xfrm>
          <a:prstGeom prst="rect">
            <a:avLst/>
          </a:prstGeom>
          <a:noFill/>
          <a:ln/>
        </p:spPr>
        <p:txBody>
          <a:bodyPr wrap="square" lIns="0" tIns="0" rIns="0" bIns="0" rtlCol="0" anchor="ctr"/>
          <a:lstStyle/>
          <a:p>
            <a:pPr indent="0" marL="0">
              <a:buNone/>
            </a:pPr>
            <a:r>
              <a:rPr lang="en-US" sz="1400" b="1" dirty="0">
                <a:solidFill>
                  <a:schemeClr val="bg1"/>
                </a:solidFill>
              </a:rPr>
              <a:t>Honest evaluation</a:t>
            </a:r>
            <a:endParaRPr lang="en-US" sz="1400" dirty="0"/>
          </a:p>
        </p:txBody>
      </p:sp>
      <p:sp>
        <p:nvSpPr>
          <p:cNvPr id="23" name="Text 17"/>
          <p:cNvSpPr txBox="1"/>
          <p:nvPr/>
        </p:nvSpPr>
        <p:spPr>
          <a:xfrm>
            <a:off x="1234440" y="4133088"/>
            <a:ext cx="3291840" cy="274320"/>
          </a:xfrm>
          <a:prstGeom prst="rect">
            <a:avLst/>
          </a:prstGeom>
          <a:noFill/>
          <a:ln/>
        </p:spPr>
        <p:txBody>
          <a:bodyPr wrap="square" lIns="0" tIns="0" rIns="0" bIns="0" rtlCol="0" anchor="ctr"/>
          <a:lstStyle/>
          <a:p>
            <a:pPr indent="0" marL="0">
              <a:buNone/>
            </a:pPr>
            <a:r>
              <a:rPr lang="en-US" sz="1200" dirty="0">
                <a:solidFill>
                  <a:schemeClr val="bg2"/>
                </a:solidFill>
              </a:rPr>
              <a:t>Baselines, unseen faults and a public benchmark.</a:t>
            </a:r>
            <a:endParaRPr lang="en-US" sz="1200" dirty="0"/>
          </a:p>
        </p:txBody>
      </p:sp>
      <p:sp>
        <p:nvSpPr>
          <p:cNvPr id="24" name="Text 18"/>
          <p:cNvSpPr txBox="1"/>
          <p:nvPr/>
        </p:nvSpPr>
        <p:spPr>
          <a:xfrm>
            <a:off x="5029200" y="1298448"/>
            <a:ext cx="182880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ROADMAP</a:t>
            </a:r>
            <a:endParaRPr lang="en-US" sz="1000" dirty="0"/>
          </a:p>
        </p:txBody>
      </p:sp>
      <p:sp>
        <p:nvSpPr>
          <p:cNvPr id="25" name="Roadmap line"/>
          <p:cNvSpPr/>
          <p:nvPr/>
        </p:nvSpPr>
        <p:spPr>
          <a:xfrm>
            <a:off x="5230368" y="1783080"/>
            <a:ext cx="0" cy="1920240"/>
          </a:xfrm>
          <a:prstGeom prst="line">
            <a:avLst/>
          </a:prstGeom>
          <a:noFill/>
          <a:ln w="19050">
            <a:solidFill>
              <a:srgbClr val="4A5366"/>
            </a:solidFill>
            <a:prstDash val="solid"/>
          </a:ln>
        </p:spPr>
      </p:sp>
      <p:sp>
        <p:nvSpPr>
          <p:cNvPr id="26" name="Roadmap dot 1"/>
          <p:cNvSpPr/>
          <p:nvPr/>
        </p:nvSpPr>
        <p:spPr>
          <a:xfrm>
            <a:off x="5120640" y="1673352"/>
            <a:ext cx="219456" cy="219456"/>
          </a:xfrm>
          <a:prstGeom prst="ellipse">
            <a:avLst/>
          </a:prstGeom>
          <a:solidFill>
            <a:schemeClr val="accent1"/>
          </a:solidFill>
          <a:ln/>
        </p:spPr>
      </p:sp>
      <p:sp>
        <p:nvSpPr>
          <p:cNvPr id="27" name="Text 21"/>
          <p:cNvSpPr txBox="1"/>
          <p:nvPr/>
        </p:nvSpPr>
        <p:spPr>
          <a:xfrm>
            <a:off x="5532120" y="1627632"/>
            <a:ext cx="3154680" cy="292608"/>
          </a:xfrm>
          <a:prstGeom prst="rect">
            <a:avLst/>
          </a:prstGeom>
          <a:noFill/>
          <a:ln/>
        </p:spPr>
        <p:txBody>
          <a:bodyPr wrap="square" lIns="0" tIns="0" rIns="0" bIns="0" rtlCol="0" anchor="ctr"/>
          <a:lstStyle/>
          <a:p>
            <a:pPr indent="0" marL="0">
              <a:buNone/>
            </a:pPr>
            <a:r>
              <a:rPr lang="en-US" sz="1000" b="1" dirty="0">
                <a:solidFill>
                  <a:schemeClr val="accent1"/>
                </a:solidFill>
              </a:rPr>
              <a:t>NOW  </a:t>
            </a:r>
            <a:pPr indent="0" marL="0">
              <a:buNone/>
            </a:pPr>
            <a:r>
              <a:rPr lang="en-US" sz="1400" b="1" dirty="0">
                <a:solidFill>
                  <a:schemeClr val="bg1"/>
                </a:solidFill>
              </a:rPr>
              <a:t>Real-world failures</a:t>
            </a:r>
            <a:endParaRPr lang="en-US" sz="1000" dirty="0"/>
          </a:p>
        </p:txBody>
      </p:sp>
      <p:sp>
        <p:nvSpPr>
          <p:cNvPr id="28" name="Text 22"/>
          <p:cNvSpPr txBox="1"/>
          <p:nvPr/>
        </p:nvSpPr>
        <p:spPr>
          <a:xfrm>
            <a:off x="5532120" y="1920240"/>
            <a:ext cx="3154680" cy="411480"/>
          </a:xfrm>
          <a:prstGeom prst="rect">
            <a:avLst/>
          </a:prstGeom>
          <a:noFill/>
          <a:ln/>
        </p:spPr>
        <p:txBody>
          <a:bodyPr wrap="square" lIns="0" tIns="0" rIns="0" bIns="0" rtlCol="0" anchor="t"/>
          <a:lstStyle/>
          <a:p>
            <a:pPr indent="0" marL="0">
              <a:buNone/>
            </a:pPr>
            <a:r>
              <a:rPr lang="en-US" sz="1150" dirty="0">
                <a:solidFill>
                  <a:schemeClr val="bg2"/>
                </a:solidFill>
              </a:rPr>
              <a:t>Catch mistakes that small local AI models make on their own.</a:t>
            </a:r>
            <a:endParaRPr lang="en-US" sz="1150" dirty="0"/>
          </a:p>
        </p:txBody>
      </p:sp>
      <p:sp>
        <p:nvSpPr>
          <p:cNvPr id="29" name="Roadmap dot 2"/>
          <p:cNvSpPr/>
          <p:nvPr/>
        </p:nvSpPr>
        <p:spPr>
          <a:xfrm>
            <a:off x="5120640" y="2450592"/>
            <a:ext cx="219456" cy="219456"/>
          </a:xfrm>
          <a:prstGeom prst="ellipse">
            <a:avLst/>
          </a:prstGeom>
          <a:solidFill>
            <a:schemeClr val="accent6"/>
          </a:solidFill>
          <a:ln/>
        </p:spPr>
      </p:sp>
      <p:sp>
        <p:nvSpPr>
          <p:cNvPr id="30" name="Text 24"/>
          <p:cNvSpPr txBox="1"/>
          <p:nvPr/>
        </p:nvSpPr>
        <p:spPr>
          <a:xfrm>
            <a:off x="5532120" y="2404872"/>
            <a:ext cx="3154680" cy="292608"/>
          </a:xfrm>
          <a:prstGeom prst="rect">
            <a:avLst/>
          </a:prstGeom>
          <a:noFill/>
          <a:ln/>
        </p:spPr>
        <p:txBody>
          <a:bodyPr wrap="square" lIns="0" tIns="0" rIns="0" bIns="0" rtlCol="0" anchor="ctr"/>
          <a:lstStyle/>
          <a:p>
            <a:pPr indent="0" marL="0">
              <a:buNone/>
            </a:pPr>
            <a:r>
              <a:rPr lang="en-US" sz="1000" b="1" dirty="0">
                <a:solidFill>
                  <a:schemeClr val="accent6"/>
                </a:solidFill>
              </a:rPr>
              <a:t>NEXT  </a:t>
            </a:r>
            <a:pPr indent="0" marL="0">
              <a:buNone/>
            </a:pPr>
            <a:r>
              <a:rPr lang="en-US" sz="1400" b="1" dirty="0">
                <a:solidFill>
                  <a:schemeClr val="bg1"/>
                </a:solidFill>
              </a:rPr>
              <a:t>Hybrid judge</a:t>
            </a:r>
            <a:endParaRPr lang="en-US" sz="1000" dirty="0"/>
          </a:p>
        </p:txBody>
      </p:sp>
      <p:sp>
        <p:nvSpPr>
          <p:cNvPr id="31" name="Text 25"/>
          <p:cNvSpPr txBox="1"/>
          <p:nvPr/>
        </p:nvSpPr>
        <p:spPr>
          <a:xfrm>
            <a:off x="5532120" y="2697480"/>
            <a:ext cx="3154680" cy="411480"/>
          </a:xfrm>
          <a:prstGeom prst="rect">
            <a:avLst/>
          </a:prstGeom>
          <a:noFill/>
          <a:ln/>
        </p:spPr>
        <p:txBody>
          <a:bodyPr wrap="square" lIns="0" tIns="0" rIns="0" bIns="0" rtlCol="0" anchor="t"/>
          <a:lstStyle/>
          <a:p>
            <a:pPr indent="0" marL="0">
              <a:buNone/>
            </a:pPr>
            <a:r>
              <a:rPr lang="en-US" sz="1150" dirty="0">
                <a:solidFill>
                  <a:schemeClr val="bg2"/>
                </a:solidFill>
              </a:rPr>
              <a:t>Black Box shortlists 3 steps, an LLM picks: cheaper and more accurate.</a:t>
            </a:r>
            <a:endParaRPr lang="en-US" sz="1150" dirty="0"/>
          </a:p>
        </p:txBody>
      </p:sp>
      <p:sp>
        <p:nvSpPr>
          <p:cNvPr id="32" name="Roadmap dot 3"/>
          <p:cNvSpPr/>
          <p:nvPr/>
        </p:nvSpPr>
        <p:spPr>
          <a:xfrm>
            <a:off x="5120640" y="3227832"/>
            <a:ext cx="219456" cy="219456"/>
          </a:xfrm>
          <a:prstGeom prst="ellipse">
            <a:avLst/>
          </a:prstGeom>
          <a:solidFill>
            <a:schemeClr val="accent2"/>
          </a:solidFill>
          <a:ln/>
        </p:spPr>
      </p:sp>
      <p:sp>
        <p:nvSpPr>
          <p:cNvPr id="33" name="Text 27"/>
          <p:cNvSpPr txBox="1"/>
          <p:nvPr/>
        </p:nvSpPr>
        <p:spPr>
          <a:xfrm>
            <a:off x="5532120" y="3182112"/>
            <a:ext cx="3154680" cy="292608"/>
          </a:xfrm>
          <a:prstGeom prst="rect">
            <a:avLst/>
          </a:prstGeom>
          <a:noFill/>
          <a:ln/>
        </p:spPr>
        <p:txBody>
          <a:bodyPr wrap="square" lIns="0" tIns="0" rIns="0" bIns="0" rtlCol="0" anchor="ctr"/>
          <a:lstStyle/>
          <a:p>
            <a:pPr indent="0" marL="0">
              <a:buNone/>
            </a:pPr>
            <a:r>
              <a:rPr lang="en-US" sz="1000" b="1" dirty="0">
                <a:solidFill>
                  <a:schemeClr val="accent2"/>
                </a:solidFill>
              </a:rPr>
              <a:t>THEN  </a:t>
            </a:r>
            <a:pPr indent="0" marL="0">
              <a:buNone/>
            </a:pPr>
            <a:r>
              <a:rPr lang="en-US" sz="1400" b="1" dirty="0">
                <a:solidFill>
                  <a:schemeClr val="bg1"/>
                </a:solidFill>
              </a:rPr>
              <a:t>Developer tools</a:t>
            </a:r>
            <a:endParaRPr lang="en-US" sz="1000" dirty="0"/>
          </a:p>
        </p:txBody>
      </p:sp>
      <p:sp>
        <p:nvSpPr>
          <p:cNvPr id="34" name="Text 28"/>
          <p:cNvSpPr txBox="1"/>
          <p:nvPr/>
        </p:nvSpPr>
        <p:spPr>
          <a:xfrm>
            <a:off x="5532120" y="3474720"/>
            <a:ext cx="3154680" cy="411480"/>
          </a:xfrm>
          <a:prstGeom prst="rect">
            <a:avLst/>
          </a:prstGeom>
          <a:noFill/>
          <a:ln/>
        </p:spPr>
        <p:txBody>
          <a:bodyPr wrap="square" lIns="0" tIns="0" rIns="0" bIns="0" rtlCol="0" anchor="t"/>
          <a:lstStyle/>
          <a:p>
            <a:pPr indent="0" marL="0">
              <a:buNone/>
            </a:pPr>
            <a:r>
              <a:rPr lang="en-US" sz="1150" dirty="0">
                <a:solidFill>
                  <a:schemeClr val="bg2"/>
                </a:solidFill>
              </a:rPr>
              <a:t>One-click regression tests and an assistant inside the code editor.</a:t>
            </a:r>
            <a:endParaRPr lang="en-US" sz="1150" dirty="0"/>
          </a:p>
        </p:txBody>
      </p:sp>
      <p:sp>
        <p:nvSpPr>
          <p:cNvPr id="35" name="Closing line card"/>
          <p:cNvSpPr/>
          <p:nvPr/>
        </p:nvSpPr>
        <p:spPr>
          <a:xfrm>
            <a:off x="5029200" y="3950208"/>
            <a:ext cx="3657600" cy="713232"/>
          </a:xfrm>
          <a:prstGeom prst="roundRect">
            <a:avLst>
              <a:gd name="adj" fmla="val 15385"/>
            </a:avLst>
          </a:prstGeom>
          <a:solidFill>
            <a:schemeClr val="accent1"/>
          </a:solidFill>
          <a:ln/>
        </p:spPr>
      </p:sp>
      <p:sp>
        <p:nvSpPr>
          <p:cNvPr id="36" name="Text 30"/>
          <p:cNvSpPr txBox="1"/>
          <p:nvPr/>
        </p:nvSpPr>
        <p:spPr>
          <a:xfrm>
            <a:off x="5166360" y="3950208"/>
            <a:ext cx="3383280" cy="713232"/>
          </a:xfrm>
          <a:prstGeom prst="rect">
            <a:avLst/>
          </a:prstGeom>
          <a:noFill/>
          <a:ln/>
        </p:spPr>
        <p:txBody>
          <a:bodyPr wrap="square" lIns="0" tIns="0" rIns="0" bIns="0" rtlCol="0" anchor="ctr"/>
          <a:lstStyle/>
          <a:p>
            <a:pPr indent="0" marL="0">
              <a:buNone/>
            </a:pPr>
            <a:r>
              <a:rPr lang="en-US" sz="1500" b="1" dirty="0">
                <a:solidFill>
                  <a:schemeClr val="tx1"/>
                </a:solidFill>
              </a:rPr>
              <a:t>Every AI agent in production</a:t>
            </a:r>
            <a:endParaRPr lang="en-US" sz="1500" dirty="0"/>
          </a:p>
          <a:p>
            <a:pPr indent="0" marL="0">
              <a:buNone/>
            </a:pPr>
            <a:r>
              <a:rPr lang="en-US" sz="1500" b="1" dirty="0">
                <a:solidFill>
                  <a:schemeClr val="tx1"/>
                </a:solidFill>
              </a:rPr>
              <a:t>needs a black box.</a:t>
            </a:r>
            <a:endParaRPr lang="en-US" sz="15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Black Box Flight Recorder">
  <a:themeElements>
    <a:clrScheme name="Black Box Flight Recorder">
      <a:dk1>
        <a:srgbClr val="0D1117"/>
      </a:dk1>
      <a:lt1>
        <a:srgbClr val="F3F5F8"/>
      </a:lt1>
      <a:dk2>
        <a:srgbClr val="171D27"/>
      </a:dk2>
      <a:lt2>
        <a:srgbClr val="8B95A7"/>
      </a:lt2>
      <a:accent1>
        <a:srgbClr val="FF7A1A"/>
      </a:accent1>
      <a:accent2>
        <a:srgbClr val="2FD28A"/>
      </a:accent2>
      <a:accent3>
        <a:srgbClr val="FF4D5E"/>
      </a:accent3>
      <a:accent4>
        <a:srgbClr val="5AA9FF"/>
      </a:accent4>
      <a:accent5>
        <a:srgbClr val="B69CFF"/>
      </a:accent5>
      <a:accent6>
        <a:srgbClr val="FFC857"/>
      </a:accent6>
      <a:hlink>
        <a:srgbClr val="5AA9FF"/>
      </a:hlink>
      <a:folHlink>
        <a:srgbClr val="B69CFF"/>
      </a:folHlink>
    </a:clrScheme>
    <a:fontScheme name="Black Box Flight Record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 a flight recorder for AI agents</dc:title>
  <dc:subject>PptxGenJS Presentation</dc:subject>
  <dc:creator>Team NeuralForge</dc:creator>
  <cp:lastModifiedBy>Team NeuralForge</cp:lastModifiedBy>
  <cp:revision>1</cp:revision>
  <dcterms:created xsi:type="dcterms:W3CDTF">2026-10-03T19:19:43Z</dcterms:created>
  <dcterms:modified xsi:type="dcterms:W3CDTF">2026-10-03T19:19:43Z</dcterms:modified>
</cp:coreProperties>
</file>